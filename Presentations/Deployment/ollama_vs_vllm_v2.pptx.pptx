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Foda Display" charset="1" panose="00000000000000000000"/>
      <p:regular r:id="rId21"/>
    </p:embeddedFont>
    <p:embeddedFont>
      <p:font typeface="Calibri (MS) Bold" charset="1" panose="020F0702030404030204"/>
      <p:regular r:id="rId22"/>
    </p:embeddedFont>
    <p:embeddedFont>
      <p:font typeface="Calibri (MS) Italics" charset="1" panose="020F05020202040A0204"/>
      <p:regular r:id="rId23"/>
    </p:embeddedFont>
    <p:embeddedFont>
      <p:font typeface="Calibri (MS)" charset="1" panose="020F0502020204030204"/>
      <p:regular r:id="rId24"/>
    </p:embeddedFont>
    <p:embeddedFont>
      <p:font typeface="Arial Bold" charset="1" panose="020B0704020202020204"/>
      <p:regular r:id="rId26"/>
    </p:embeddedFont>
    <p:embeddedFont>
      <p:font typeface="Alice" charset="1" panose="00000500000000000000"/>
      <p:regular r:id="rId27"/>
    </p:embeddedFont>
    <p:embeddedFont>
      <p:font typeface="Consolas" charset="1" panose="020B0609020204030204"/>
      <p:regular r:id="rId30"/>
    </p:embeddedFont>
    <p:embeddedFont>
      <p:font typeface="Arial" charset="1" panose="020B0604020202020204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75737" y="-1475737"/>
            <a:ext cx="8255003" cy="8255003"/>
            <a:chOff x="0" y="0"/>
            <a:chExt cx="11006671" cy="11006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06709" cy="11006709"/>
            </a:xfrm>
            <a:custGeom>
              <a:avLst/>
              <a:gdLst/>
              <a:ahLst/>
              <a:cxnLst/>
              <a:rect r="r" b="b" t="t" l="l"/>
              <a:pathLst>
                <a:path h="11006709" w="11006709">
                  <a:moveTo>
                    <a:pt x="0" y="5503291"/>
                  </a:moveTo>
                  <a:cubicBezTo>
                    <a:pt x="0" y="2463927"/>
                    <a:pt x="2463927" y="0"/>
                    <a:pt x="5503291" y="0"/>
                  </a:cubicBezTo>
                  <a:cubicBezTo>
                    <a:pt x="8542655" y="0"/>
                    <a:pt x="11006709" y="2463927"/>
                    <a:pt x="11006709" y="5503291"/>
                  </a:cubicBezTo>
                  <a:cubicBezTo>
                    <a:pt x="11006709" y="8542655"/>
                    <a:pt x="8542782" y="11006709"/>
                    <a:pt x="5503291" y="11006709"/>
                  </a:cubicBezTo>
                  <a:cubicBezTo>
                    <a:pt x="2463800" y="11006709"/>
                    <a:pt x="0" y="8542782"/>
                    <a:pt x="0" y="5503291"/>
                  </a:cubicBezTo>
                  <a:close/>
                </a:path>
              </a:pathLst>
            </a:custGeom>
            <a:solidFill>
              <a:srgbClr val="6C3EE8">
                <a:alpha val="48627"/>
              </a:srgbClr>
            </a:solidFill>
            <a:ln w="25400" cap="sq">
              <a:solidFill>
                <a:srgbClr val="6C3EE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3703303" y="6388103"/>
            <a:ext cx="7340603" cy="7340603"/>
            <a:chOff x="0" y="0"/>
            <a:chExt cx="9787471" cy="9787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87509" cy="9787509"/>
            </a:xfrm>
            <a:custGeom>
              <a:avLst/>
              <a:gdLst/>
              <a:ahLst/>
              <a:cxnLst/>
              <a:rect r="r" b="b" t="t" l="l"/>
              <a:pathLst>
                <a:path h="9787509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cubicBezTo>
                    <a:pt x="7596377" y="0"/>
                    <a:pt x="9787509" y="2191004"/>
                    <a:pt x="9787509" y="4893691"/>
                  </a:cubicBezTo>
                  <a:cubicBezTo>
                    <a:pt x="9787509" y="7596377"/>
                    <a:pt x="7596505" y="9787509"/>
                    <a:pt x="4893691" y="9787509"/>
                  </a:cubicBezTo>
                  <a:cubicBezTo>
                    <a:pt x="2190876" y="9787509"/>
                    <a:pt x="0" y="7596505"/>
                    <a:pt x="0" y="4893691"/>
                  </a:cubicBezTo>
                  <a:close/>
                </a:path>
              </a:pathLst>
            </a:custGeom>
            <a:solidFill>
              <a:srgbClr val="C084FC">
                <a:alpha val="41961"/>
              </a:srgbClr>
            </a:solidFill>
            <a:ln w="25400" cap="sq">
              <a:solidFill>
                <a:srgbClr val="C084F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960103" y="-1841497"/>
            <a:ext cx="5511803" cy="5511803"/>
            <a:chOff x="0" y="0"/>
            <a:chExt cx="7349071" cy="73490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49109" cy="7349109"/>
            </a:xfrm>
            <a:custGeom>
              <a:avLst/>
              <a:gdLst/>
              <a:ahLst/>
              <a:cxnLst/>
              <a:rect r="r" b="b" t="t" l="l"/>
              <a:pathLst>
                <a:path h="7349109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cubicBezTo>
                    <a:pt x="5703824" y="0"/>
                    <a:pt x="7349109" y="1645158"/>
                    <a:pt x="7349109" y="3674491"/>
                  </a:cubicBezTo>
                  <a:cubicBezTo>
                    <a:pt x="7349109" y="5703824"/>
                    <a:pt x="5703951" y="7349109"/>
                    <a:pt x="3674491" y="7349109"/>
                  </a:cubicBezTo>
                  <a:cubicBezTo>
                    <a:pt x="1645031" y="7349109"/>
                    <a:pt x="0" y="5703951"/>
                    <a:pt x="0" y="3674491"/>
                  </a:cubicBezTo>
                  <a:close/>
                </a:path>
              </a:pathLst>
            </a:custGeom>
            <a:solidFill>
              <a:srgbClr val="4F46E5">
                <a:alpha val="35686"/>
              </a:srgbClr>
            </a:solidFill>
            <a:ln w="25400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2823848"/>
            <a:ext cx="16459200" cy="3926269"/>
            <a:chOff x="0" y="0"/>
            <a:chExt cx="21945600" cy="52350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5235025"/>
            </a:xfrm>
            <a:custGeom>
              <a:avLst/>
              <a:gdLst/>
              <a:ahLst/>
              <a:cxnLst/>
              <a:rect r="r" b="b" t="t" l="l"/>
              <a:pathLst>
                <a:path h="523502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235025"/>
                  </a:lnTo>
                  <a:lnTo>
                    <a:pt x="0" y="52350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19" r="0" b="-1894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524000"/>
              <a:ext cx="21945600" cy="6759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959"/>
                </a:lnSpc>
              </a:pPr>
              <a:r>
                <a:rPr lang="en-US" sz="13299" spc="214" u="sng">
                  <a:solidFill>
                    <a:srgbClr val="FFFFFF"/>
                  </a:solidFill>
                  <a:latin typeface="Foda Display"/>
                  <a:ea typeface="Foda Display"/>
                  <a:cs typeface="Foda Display"/>
                  <a:sym typeface="Foda Display"/>
                </a:rPr>
                <a:t>Ollama  vs  vLLM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32261" y="6779266"/>
            <a:ext cx="12801600" cy="1005840"/>
            <a:chOff x="0" y="0"/>
            <a:chExt cx="17068800" cy="1341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991" r="0" b="-19799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706880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9CA3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Deploying Large Language Models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8720" y="7412993"/>
            <a:ext cx="12801600" cy="914400"/>
            <a:chOff x="0" y="0"/>
            <a:chExt cx="170688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068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70688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hands-on comparison of two open-source LLM deployment frameworks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8720" y="8961120"/>
            <a:ext cx="9144000" cy="731520"/>
            <a:chOff x="0" y="0"/>
            <a:chExt cx="1219200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1920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Models used: Llama 3.2  ·  Google Gemma 2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51943" y="-2207257"/>
            <a:ext cx="7340603" cy="7340603"/>
            <a:chOff x="0" y="0"/>
            <a:chExt cx="9787471" cy="9787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87509" cy="9787509"/>
            </a:xfrm>
            <a:custGeom>
              <a:avLst/>
              <a:gdLst/>
              <a:ahLst/>
              <a:cxnLst/>
              <a:rect r="r" b="b" t="t" l="l"/>
              <a:pathLst>
                <a:path h="9787509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cubicBezTo>
                    <a:pt x="7596377" y="0"/>
                    <a:pt x="9787509" y="2191004"/>
                    <a:pt x="9787509" y="4893691"/>
                  </a:cubicBezTo>
                  <a:cubicBezTo>
                    <a:pt x="9787509" y="7596377"/>
                    <a:pt x="7596505" y="9787509"/>
                    <a:pt x="4893691" y="9787509"/>
                  </a:cubicBezTo>
                  <a:cubicBezTo>
                    <a:pt x="2190876" y="9787509"/>
                    <a:pt x="0" y="7596505"/>
                    <a:pt x="0" y="4893691"/>
                  </a:cubicBezTo>
                  <a:close/>
                </a:path>
              </a:pathLst>
            </a:custGeom>
            <a:solidFill>
              <a:srgbClr val="6C3EE8">
                <a:alpha val="35686"/>
              </a:srgbClr>
            </a:solidFill>
            <a:ln w="25400" cap="sq">
              <a:solidFill>
                <a:srgbClr val="6C3EE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841497" y="5473703"/>
            <a:ext cx="6426203" cy="6426203"/>
            <a:chOff x="0" y="0"/>
            <a:chExt cx="8568271" cy="85682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68309" cy="8568309"/>
            </a:xfrm>
            <a:custGeom>
              <a:avLst/>
              <a:gdLst/>
              <a:ahLst/>
              <a:cxnLst/>
              <a:rect r="r" b="b" t="t" l="l"/>
              <a:pathLst>
                <a:path h="8568309" w="8568309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cubicBezTo>
                    <a:pt x="6650101" y="0"/>
                    <a:pt x="8568309" y="1918081"/>
                    <a:pt x="8568309" y="4284091"/>
                  </a:cubicBezTo>
                  <a:cubicBezTo>
                    <a:pt x="8568309" y="6650101"/>
                    <a:pt x="6650228" y="8568309"/>
                    <a:pt x="4284091" y="8568309"/>
                  </a:cubicBezTo>
                  <a:cubicBezTo>
                    <a:pt x="1917953" y="8568309"/>
                    <a:pt x="0" y="6650228"/>
                    <a:pt x="0" y="4284091"/>
                  </a:cubicBezTo>
                  <a:close/>
                </a:path>
              </a:pathLst>
            </a:custGeom>
            <a:solidFill>
              <a:srgbClr val="312E81">
                <a:alpha val="24706"/>
              </a:srgbClr>
            </a:solidFill>
            <a:ln w="25400" cap="sq">
              <a:solidFill>
                <a:srgbClr val="312E81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640080"/>
            <a:ext cx="10972800" cy="822960"/>
            <a:chOff x="0" y="0"/>
            <a:chExt cx="14630400" cy="1097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600">
                  <a:solidFill>
                    <a:srgbClr val="6C3E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5159" y="640080"/>
            <a:ext cx="17625643" cy="2662118"/>
            <a:chOff x="0" y="0"/>
            <a:chExt cx="23409418" cy="35356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09418" cy="3535680"/>
            </a:xfrm>
            <a:custGeom>
              <a:avLst/>
              <a:gdLst/>
              <a:ahLst/>
              <a:cxnLst/>
              <a:rect r="r" b="b" t="t" l="l"/>
              <a:pathLst>
                <a:path h="3535680" w="23409418">
                  <a:moveTo>
                    <a:pt x="0" y="0"/>
                  </a:moveTo>
                  <a:lnTo>
                    <a:pt x="23409418" y="0"/>
                  </a:lnTo>
                  <a:lnTo>
                    <a:pt x="23409418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346" r="32293" b="-3734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3409418" cy="3564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b="true" sz="8400" u="sng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Running LLMs  Used to Be Hard.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97280" y="3098962"/>
            <a:ext cx="914400" cy="822960"/>
            <a:chOff x="0" y="0"/>
            <a:chExt cx="121920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1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2192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💸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11680" y="3098962"/>
            <a:ext cx="4023360" cy="619552"/>
            <a:chOff x="0" y="0"/>
            <a:chExt cx="5364480" cy="82606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64480" cy="826069"/>
            </a:xfrm>
            <a:custGeom>
              <a:avLst/>
              <a:gdLst/>
              <a:ahLst/>
              <a:cxnLst/>
              <a:rect r="r" b="b" t="t" l="l"/>
              <a:pathLst>
                <a:path h="826069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26069"/>
                  </a:lnTo>
                  <a:lnTo>
                    <a:pt x="0" y="826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0" r="0" b="-6786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5364480" cy="8927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Expensive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011680" y="3718514"/>
            <a:ext cx="10058400" cy="515111"/>
            <a:chOff x="0" y="0"/>
            <a:chExt cx="13411200" cy="6868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11200" cy="686815"/>
            </a:xfrm>
            <a:custGeom>
              <a:avLst/>
              <a:gdLst/>
              <a:ahLst/>
              <a:cxnLst/>
              <a:rect r="r" b="b" t="t" l="l"/>
              <a:pathLst>
                <a:path h="686815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86815"/>
                  </a:lnTo>
                  <a:lnTo>
                    <a:pt x="0" y="6868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773" r="0" b="-33018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3411200" cy="696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9CA3AF"/>
                  </a:solidFill>
                  <a:latin typeface="Alice"/>
                  <a:ea typeface="Alice"/>
                  <a:cs typeface="Alice"/>
                  <a:sym typeface="Alice"/>
                </a:rPr>
                <a:t>Using GPT-4 via API costs money per token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4721866"/>
            <a:ext cx="914400" cy="822960"/>
            <a:chOff x="0" y="0"/>
            <a:chExt cx="121920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1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12192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011680" y="4842788"/>
            <a:ext cx="4023360" cy="581117"/>
            <a:chOff x="0" y="0"/>
            <a:chExt cx="5364480" cy="77482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64480" cy="774823"/>
            </a:xfrm>
            <a:custGeom>
              <a:avLst/>
              <a:gdLst/>
              <a:ahLst/>
              <a:cxnLst/>
              <a:rect r="r" b="b" t="t" l="l"/>
              <a:pathLst>
                <a:path h="774823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74823"/>
                  </a:lnTo>
                  <a:lnTo>
                    <a:pt x="0" y="7748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845" r="0" b="-7896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5364480" cy="831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privacy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011680" y="5632704"/>
            <a:ext cx="10058400" cy="515111"/>
            <a:chOff x="0" y="0"/>
            <a:chExt cx="13411200" cy="68681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411200" cy="686815"/>
            </a:xfrm>
            <a:custGeom>
              <a:avLst/>
              <a:gdLst/>
              <a:ahLst/>
              <a:cxnLst/>
              <a:rect r="r" b="b" t="t" l="l"/>
              <a:pathLst>
                <a:path h="686815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86815"/>
                  </a:lnTo>
                  <a:lnTo>
                    <a:pt x="0" y="6868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773" r="0" b="-33018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3411200" cy="696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9CA3AF"/>
                  </a:solidFill>
                  <a:latin typeface="Alice"/>
                  <a:ea typeface="Alice"/>
                  <a:cs typeface="Alice"/>
                  <a:sym typeface="Alice"/>
                </a:rPr>
                <a:t>Your data goes to OpenAI's servers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28700" y="6592824"/>
            <a:ext cx="914400" cy="822960"/>
            <a:chOff x="0" y="0"/>
            <a:chExt cx="121920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1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12192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🌐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011680" y="6691006"/>
            <a:ext cx="4023360" cy="557138"/>
            <a:chOff x="0" y="0"/>
            <a:chExt cx="5364480" cy="7428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64480" cy="742850"/>
            </a:xfrm>
            <a:custGeom>
              <a:avLst/>
              <a:gdLst/>
              <a:ahLst/>
              <a:cxnLst/>
              <a:rect r="r" b="b" t="t" l="l"/>
              <a:pathLst>
                <a:path h="74285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42850"/>
                  </a:lnTo>
                  <a:lnTo>
                    <a:pt x="0" y="742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55" r="0" b="-8666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5364480" cy="809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Needs internet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011680" y="7415784"/>
            <a:ext cx="10058400" cy="515111"/>
            <a:chOff x="0" y="0"/>
            <a:chExt cx="13411200" cy="68681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411200" cy="686815"/>
            </a:xfrm>
            <a:custGeom>
              <a:avLst/>
              <a:gdLst/>
              <a:ahLst/>
              <a:cxnLst/>
              <a:rect r="r" b="b" t="t" l="l"/>
              <a:pathLst>
                <a:path h="686815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86815"/>
                  </a:lnTo>
                  <a:lnTo>
                    <a:pt x="0" y="6868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773" r="0" b="-33018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13411200" cy="696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9CA3AF"/>
                  </a:solidFill>
                  <a:latin typeface="Alice"/>
                  <a:ea typeface="Alice"/>
                  <a:cs typeface="Alice"/>
                  <a:sym typeface="Alice"/>
                </a:rPr>
                <a:t>Can't run offline or in restricted environments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97280" y="8375904"/>
            <a:ext cx="914400" cy="822960"/>
            <a:chOff x="0" y="0"/>
            <a:chExt cx="121920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1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12192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⚙️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194560" y="8412480"/>
            <a:ext cx="4023360" cy="557138"/>
            <a:chOff x="0" y="0"/>
            <a:chExt cx="5364480" cy="7428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64480" cy="742850"/>
            </a:xfrm>
            <a:custGeom>
              <a:avLst/>
              <a:gdLst/>
              <a:ahLst/>
              <a:cxnLst/>
              <a:rect r="r" b="b" t="t" l="l"/>
              <a:pathLst>
                <a:path h="74285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42850"/>
                  </a:lnTo>
                  <a:lnTo>
                    <a:pt x="0" y="742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55" r="0" b="-8666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5364480" cy="809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Complex setup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194560" y="8924544"/>
            <a:ext cx="10058400" cy="512064"/>
            <a:chOff x="0" y="0"/>
            <a:chExt cx="13411200" cy="6827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411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341120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9CA3AF"/>
                  </a:solidFill>
                  <a:latin typeface="Alice"/>
                  <a:ea typeface="Alice"/>
                  <a:cs typeface="Alice"/>
                  <a:sym typeface="Alice"/>
                </a:rPr>
                <a:t>Self-hosting used to require deep ML infra knowledge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83463" y="6388103"/>
            <a:ext cx="6426203" cy="6426203"/>
            <a:chOff x="0" y="0"/>
            <a:chExt cx="8568271" cy="8568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68309" cy="8568309"/>
            </a:xfrm>
            <a:custGeom>
              <a:avLst/>
              <a:gdLst/>
              <a:ahLst/>
              <a:cxnLst/>
              <a:rect r="r" b="b" t="t" l="l"/>
              <a:pathLst>
                <a:path h="8568309" w="8568309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cubicBezTo>
                    <a:pt x="6650101" y="0"/>
                    <a:pt x="8568309" y="1918081"/>
                    <a:pt x="8568309" y="4284091"/>
                  </a:cubicBezTo>
                  <a:cubicBezTo>
                    <a:pt x="8568309" y="6650101"/>
                    <a:pt x="6650228" y="8568309"/>
                    <a:pt x="4284091" y="8568309"/>
                  </a:cubicBezTo>
                  <a:cubicBezTo>
                    <a:pt x="1917953" y="8568309"/>
                    <a:pt x="0" y="6650228"/>
                    <a:pt x="0" y="4284091"/>
                  </a:cubicBezTo>
                  <a:close/>
                </a:path>
              </a:pathLst>
            </a:custGeom>
            <a:solidFill>
              <a:srgbClr val="6C3EE8">
                <a:alpha val="41961"/>
              </a:srgbClr>
            </a:solidFill>
            <a:ln w="25400" cap="sq">
              <a:solidFill>
                <a:srgbClr val="6C3EE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548640"/>
            <a:ext cx="9144000" cy="731520"/>
            <a:chOff x="0" y="0"/>
            <a:chExt cx="12192000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21920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799">
                  <a:solidFill>
                    <a:srgbClr val="6C3E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OLLAMA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777240"/>
            <a:ext cx="10972800" cy="1645920"/>
            <a:chOff x="0" y="0"/>
            <a:chExt cx="1463040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is Ollama?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280" y="2297430"/>
            <a:ext cx="16898913" cy="1280160"/>
            <a:chOff x="0" y="0"/>
            <a:chExt cx="22531885" cy="17068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531884" cy="1706880"/>
            </a:xfrm>
            <a:custGeom>
              <a:avLst/>
              <a:gdLst/>
              <a:ahLst/>
              <a:cxnLst/>
              <a:rect r="r" b="b" t="t" l="l"/>
              <a:pathLst>
                <a:path h="1706880" w="22531884">
                  <a:moveTo>
                    <a:pt x="0" y="0"/>
                  </a:moveTo>
                  <a:lnTo>
                    <a:pt x="22531884" y="0"/>
                  </a:lnTo>
                  <a:lnTo>
                    <a:pt x="22531884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37232" b="-11144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2531885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3299">
                  <a:solidFill>
                    <a:srgbClr val="9CA3AF"/>
                  </a:solidFill>
                  <a:latin typeface="Alice"/>
                  <a:ea typeface="Alice"/>
                  <a:cs typeface="Alice"/>
                  <a:sym typeface="Alice"/>
                </a:rPr>
                <a:t>Run open-source LLMs locally with a single command. No API key. No internet. No cost.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84583" y="3741039"/>
            <a:ext cx="354587" cy="354587"/>
            <a:chOff x="0" y="0"/>
            <a:chExt cx="472783" cy="4727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6C3EE8"/>
            </a:solidFill>
            <a:ln w="25400" cap="sq">
              <a:solidFill>
                <a:srgbClr val="6C3EE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09344" y="3662301"/>
            <a:ext cx="4023360" cy="581117"/>
            <a:chOff x="0" y="0"/>
            <a:chExt cx="5364480" cy="77482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64480" cy="774823"/>
            </a:xfrm>
            <a:custGeom>
              <a:avLst/>
              <a:gdLst/>
              <a:ahLst/>
              <a:cxnLst/>
              <a:rect r="r" b="b" t="t" l="l"/>
              <a:pathLst>
                <a:path h="774823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74823"/>
                  </a:lnTo>
                  <a:lnTo>
                    <a:pt x="0" y="7748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845" r="0" b="-7896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5364480" cy="831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One-line install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09344" y="4213479"/>
            <a:ext cx="9509760" cy="479679"/>
            <a:chOff x="0" y="0"/>
            <a:chExt cx="12679680" cy="6395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679680" cy="639571"/>
            </a:xfrm>
            <a:custGeom>
              <a:avLst/>
              <a:gdLst/>
              <a:ahLst/>
              <a:cxnLst/>
              <a:rect r="r" b="b" t="t" l="l"/>
              <a:pathLst>
                <a:path h="639571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39571"/>
                  </a:lnTo>
                  <a:lnTo>
                    <a:pt x="0" y="6395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639" r="0" b="-3339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2679680" cy="6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9CA3AF"/>
                  </a:solidFill>
                  <a:latin typeface="Alice"/>
                  <a:ea typeface="Alice"/>
                  <a:cs typeface="Alice"/>
                  <a:sym typeface="Alice"/>
                </a:rPr>
                <a:t>curl script sets everything up in under a minute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84583" y="5062519"/>
            <a:ext cx="354587" cy="354587"/>
            <a:chOff x="0" y="0"/>
            <a:chExt cx="472783" cy="47278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6C3EE8"/>
            </a:solidFill>
            <a:ln w="25400" cap="sq">
              <a:solidFill>
                <a:srgbClr val="6C3EE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645920" y="4983781"/>
            <a:ext cx="4023360" cy="581117"/>
            <a:chOff x="0" y="0"/>
            <a:chExt cx="5364480" cy="7748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4480" cy="774823"/>
            </a:xfrm>
            <a:custGeom>
              <a:avLst/>
              <a:gdLst/>
              <a:ahLst/>
              <a:cxnLst/>
              <a:rect r="r" b="b" t="t" l="l"/>
              <a:pathLst>
                <a:path h="774823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74823"/>
                  </a:lnTo>
                  <a:lnTo>
                    <a:pt x="0" y="7748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845" r="0" b="-7896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5364480" cy="831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OpenAI-compatible API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45920" y="5581570"/>
            <a:ext cx="9509760" cy="502157"/>
            <a:chOff x="0" y="0"/>
            <a:chExt cx="12679680" cy="66954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679680" cy="669543"/>
            </a:xfrm>
            <a:custGeom>
              <a:avLst/>
              <a:gdLst/>
              <a:ahLst/>
              <a:cxnLst/>
              <a:rect r="r" b="b" t="t" l="l"/>
              <a:pathLst>
                <a:path h="669543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69543"/>
                  </a:lnTo>
                  <a:lnTo>
                    <a:pt x="0" y="6695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480" r="0" b="-31452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2679680" cy="679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9CA3AF"/>
                  </a:solidFill>
                  <a:latin typeface="Alice"/>
                  <a:ea typeface="Alice"/>
                  <a:cs typeface="Alice"/>
                  <a:sym typeface="Alice"/>
                </a:rPr>
                <a:t>Same /v1/chat/completions format — swap URL, done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7280" y="6436282"/>
            <a:ext cx="354587" cy="354587"/>
            <a:chOff x="0" y="0"/>
            <a:chExt cx="472783" cy="47278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6C3EE8"/>
            </a:solidFill>
            <a:ln w="25400" cap="sq">
              <a:solidFill>
                <a:srgbClr val="6C3EE8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645920" y="6371902"/>
            <a:ext cx="4023360" cy="557138"/>
            <a:chOff x="0" y="0"/>
            <a:chExt cx="5364480" cy="7428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64480" cy="742850"/>
            </a:xfrm>
            <a:custGeom>
              <a:avLst/>
              <a:gdLst/>
              <a:ahLst/>
              <a:cxnLst/>
              <a:rect r="r" b="b" t="t" l="l"/>
              <a:pathLst>
                <a:path h="74285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42850"/>
                  </a:lnTo>
                  <a:lnTo>
                    <a:pt x="0" y="742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55" r="0" b="-8666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5364480" cy="809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Easy model management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609344" y="6762427"/>
            <a:ext cx="9509760" cy="502157"/>
            <a:chOff x="0" y="0"/>
            <a:chExt cx="12679680" cy="66954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679680" cy="669543"/>
            </a:xfrm>
            <a:custGeom>
              <a:avLst/>
              <a:gdLst/>
              <a:ahLst/>
              <a:cxnLst/>
              <a:rect r="r" b="b" t="t" l="l"/>
              <a:pathLst>
                <a:path h="669543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69543"/>
                  </a:lnTo>
                  <a:lnTo>
                    <a:pt x="0" y="6695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480" r="0" b="-31452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2679680" cy="679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9CA3AF"/>
                  </a:solidFill>
                  <a:latin typeface="Alice"/>
                  <a:ea typeface="Alice"/>
                  <a:cs typeface="Alice"/>
                  <a:sym typeface="Alice"/>
                </a:rPr>
                <a:t>ollama pull &lt;model&gt; downloads anything from their library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97280" y="7490965"/>
            <a:ext cx="354587" cy="354587"/>
            <a:chOff x="0" y="0"/>
            <a:chExt cx="472783" cy="47278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6C3EE8"/>
            </a:solidFill>
            <a:ln w="25400" cap="sq">
              <a:solidFill>
                <a:srgbClr val="6C3EE8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609344" y="7414904"/>
            <a:ext cx="4023360" cy="633156"/>
            <a:chOff x="0" y="0"/>
            <a:chExt cx="5364480" cy="84420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64480" cy="844208"/>
            </a:xfrm>
            <a:custGeom>
              <a:avLst/>
              <a:gdLst/>
              <a:ahLst/>
              <a:cxnLst/>
              <a:rect r="r" b="b" t="t" l="l"/>
              <a:pathLst>
                <a:path h="84420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44208"/>
                  </a:lnTo>
                  <a:lnTo>
                    <a:pt x="0" y="844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379" r="0" b="-6425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5364480" cy="9108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Runs on CPU or GPU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609344" y="8048060"/>
            <a:ext cx="9509760" cy="457200"/>
            <a:chOff x="0" y="0"/>
            <a:chExt cx="12679680" cy="609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679680" cy="609600"/>
            </a:xfrm>
            <a:custGeom>
              <a:avLst/>
              <a:gdLst/>
              <a:ahLst/>
              <a:cxnLst/>
              <a:rect r="r" b="b" t="t" l="l"/>
              <a:pathLst>
                <a:path h="60960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5288" r="0" b="-35528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1267968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9CA3AF"/>
                  </a:solidFill>
                  <a:latin typeface="Alice"/>
                  <a:ea typeface="Alice"/>
                  <a:cs typeface="Alice"/>
                  <a:sym typeface="Alice"/>
                </a:rPr>
                <a:t>Works even without a dedicated GPU (slower but works)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84583" y="8728962"/>
            <a:ext cx="354587" cy="354587"/>
            <a:chOff x="0" y="0"/>
            <a:chExt cx="472783" cy="47278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6C3EE8"/>
            </a:solidFill>
            <a:ln w="25400" cap="sq">
              <a:solidFill>
                <a:srgbClr val="6C3EE8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609344" y="8642628"/>
            <a:ext cx="4023360" cy="542683"/>
            <a:chOff x="0" y="0"/>
            <a:chExt cx="5364480" cy="72357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64480" cy="723577"/>
            </a:xfrm>
            <a:custGeom>
              <a:avLst/>
              <a:gdLst/>
              <a:ahLst/>
              <a:cxnLst/>
              <a:rect r="r" b="b" t="t" l="l"/>
              <a:pathLst>
                <a:path h="723577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23577"/>
                  </a:lnTo>
                  <a:lnTo>
                    <a:pt x="0" y="723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279" r="0" b="-9163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5364480" cy="780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Great for learning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09344" y="9083550"/>
            <a:ext cx="9509760" cy="479679"/>
            <a:chOff x="0" y="0"/>
            <a:chExt cx="12679680" cy="63957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679680" cy="639571"/>
            </a:xfrm>
            <a:custGeom>
              <a:avLst/>
              <a:gdLst/>
              <a:ahLst/>
              <a:cxnLst/>
              <a:rect r="r" b="b" t="t" l="l"/>
              <a:pathLst>
                <a:path h="639571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39571"/>
                  </a:lnTo>
                  <a:lnTo>
                    <a:pt x="0" y="6395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639" r="0" b="-33395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12679680" cy="6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9CA3AF"/>
                  </a:solidFill>
                  <a:latin typeface="Alice"/>
                  <a:ea typeface="Alice"/>
                  <a:cs typeface="Alice"/>
                  <a:sym typeface="Alice"/>
                </a:rPr>
                <a:t>Simplest way to get an LLM running locally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55897" y="6388103"/>
            <a:ext cx="7340603" cy="7340603"/>
            <a:chOff x="0" y="0"/>
            <a:chExt cx="9787471" cy="9787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87509" cy="9787509"/>
            </a:xfrm>
            <a:custGeom>
              <a:avLst/>
              <a:gdLst/>
              <a:ahLst/>
              <a:cxnLst/>
              <a:rect r="r" b="b" t="t" l="l"/>
              <a:pathLst>
                <a:path h="9787509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cubicBezTo>
                    <a:pt x="7596377" y="0"/>
                    <a:pt x="9787509" y="2191004"/>
                    <a:pt x="9787509" y="4893691"/>
                  </a:cubicBezTo>
                  <a:cubicBezTo>
                    <a:pt x="9787509" y="7596377"/>
                    <a:pt x="7596505" y="9787509"/>
                    <a:pt x="4893691" y="9787509"/>
                  </a:cubicBezTo>
                  <a:cubicBezTo>
                    <a:pt x="2190876" y="9787509"/>
                    <a:pt x="0" y="7596505"/>
                    <a:pt x="0" y="4893691"/>
                  </a:cubicBezTo>
                  <a:close/>
                </a:path>
              </a:pathLst>
            </a:custGeom>
            <a:solidFill>
              <a:srgbClr val="312E81">
                <a:alpha val="24706"/>
              </a:srgbClr>
            </a:solidFill>
            <a:ln w="25400" cap="sq">
              <a:solidFill>
                <a:srgbClr val="312E8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512064"/>
            <a:ext cx="16459200" cy="731520"/>
            <a:chOff x="0" y="0"/>
            <a:chExt cx="21945600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945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799">
                  <a:solidFill>
                    <a:srgbClr val="6C3E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OLLAMA IN ACTION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1243584"/>
            <a:ext cx="16459200" cy="1371600"/>
            <a:chOff x="0" y="0"/>
            <a:chExt cx="2194560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Install → Pull → Query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280" y="2926080"/>
            <a:ext cx="7315200" cy="640080"/>
            <a:chOff x="0" y="0"/>
            <a:chExt cx="9753600" cy="853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9753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C084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① Install &amp; start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3566160"/>
            <a:ext cx="7889243" cy="1671323"/>
            <a:chOff x="0" y="0"/>
            <a:chExt cx="10518991" cy="22284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19029" cy="2228469"/>
            </a:xfrm>
            <a:custGeom>
              <a:avLst/>
              <a:gdLst/>
              <a:ahLst/>
              <a:cxnLst/>
              <a:rect r="r" b="b" t="t" l="l"/>
              <a:pathLst>
                <a:path h="2228469" w="10519029">
                  <a:moveTo>
                    <a:pt x="0" y="0"/>
                  </a:moveTo>
                  <a:lnTo>
                    <a:pt x="10519029" y="0"/>
                  </a:lnTo>
                  <a:lnTo>
                    <a:pt x="10519029" y="2228469"/>
                  </a:lnTo>
                  <a:lnTo>
                    <a:pt x="0" y="2228469"/>
                  </a:lnTo>
                  <a:close/>
                </a:path>
              </a:pathLst>
            </a:custGeom>
            <a:solidFill>
              <a:srgbClr val="111827"/>
            </a:solidFill>
            <a:ln w="25400" cap="sq">
              <a:solidFill>
                <a:srgbClr val="1F293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188720" y="3832860"/>
            <a:ext cx="713232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# install zstd first, then ollama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!apt-get install -y zstd -qq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!curl -fsSL https://ollama.com/install.sh | sh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97280" y="5577840"/>
            <a:ext cx="7315200" cy="640080"/>
            <a:chOff x="0" y="0"/>
            <a:chExt cx="975360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9753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C084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② Start the server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4583" y="6296663"/>
            <a:ext cx="7889243" cy="3113639"/>
            <a:chOff x="0" y="0"/>
            <a:chExt cx="10518991" cy="41515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19029" cy="4151557"/>
            </a:xfrm>
            <a:custGeom>
              <a:avLst/>
              <a:gdLst/>
              <a:ahLst/>
              <a:cxnLst/>
              <a:rect r="r" b="b" t="t" l="l"/>
              <a:pathLst>
                <a:path h="4151557" w="10519029">
                  <a:moveTo>
                    <a:pt x="0" y="0"/>
                  </a:moveTo>
                  <a:lnTo>
                    <a:pt x="10519029" y="0"/>
                  </a:lnTo>
                  <a:lnTo>
                    <a:pt x="10519029" y="4151557"/>
                  </a:lnTo>
                  <a:lnTo>
                    <a:pt x="0" y="4151557"/>
                  </a:lnTo>
                  <a:close/>
                </a:path>
              </a:pathLst>
            </a:custGeom>
            <a:solidFill>
              <a:srgbClr val="111827"/>
            </a:solidFill>
            <a:ln w="25400" cap="sq">
              <a:solidFill>
                <a:srgbClr val="1F293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80160" y="6484620"/>
            <a:ext cx="7132320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import subprocess, time, requests</a:t>
            </a:r>
          </a:p>
          <a:p>
            <a:pPr algn="l">
              <a:lnSpc>
                <a:spcPts val="2759"/>
              </a:lnSpc>
            </a:pP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subprocess.Popen</a:t>
            </a:r>
            <a:r>
              <a:rPr lang="en-US" sz="22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(["ollama", "serve"],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  stdout=subprocess.DEVNULL)</a:t>
            </a:r>
          </a:p>
          <a:p>
            <a:pPr algn="l">
              <a:lnSpc>
                <a:spcPts val="2759"/>
              </a:lnSpc>
            </a:pP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# wait until ready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requests.get("http://localhost:11434")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509760" y="2926080"/>
            <a:ext cx="8046720" cy="640080"/>
            <a:chOff x="0" y="0"/>
            <a:chExt cx="10728960" cy="85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28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07289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C084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③ Pull model + query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97063" y="3649545"/>
            <a:ext cx="8255003" cy="5765399"/>
            <a:chOff x="0" y="0"/>
            <a:chExt cx="11006671" cy="768719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006709" cy="7687237"/>
            </a:xfrm>
            <a:custGeom>
              <a:avLst/>
              <a:gdLst/>
              <a:ahLst/>
              <a:cxnLst/>
              <a:rect r="r" b="b" t="t" l="l"/>
              <a:pathLst>
                <a:path h="7687237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7687237"/>
                  </a:lnTo>
                  <a:lnTo>
                    <a:pt x="0" y="7687237"/>
                  </a:lnTo>
                  <a:close/>
                </a:path>
              </a:pathLst>
            </a:custGeom>
            <a:solidFill>
              <a:srgbClr val="111827"/>
            </a:solidFill>
            <a:ln w="25400" cap="sq">
              <a:solidFill>
                <a:srgbClr val="1F2937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9761220" y="3832860"/>
            <a:ext cx="7498080" cy="538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!ollama pull llama3.2:1b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en-US" sz="21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openai </a:t>
            </a:r>
            <a:r>
              <a:rPr lang="en-US" sz="2199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-US" sz="2199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OpenAI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client = </a:t>
            </a:r>
            <a:r>
              <a:rPr lang="en-US" sz="2199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OpenAI(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base_url=</a:t>
            </a:r>
            <a:r>
              <a:rPr lang="en-US" sz="2199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"http://localhost:11434/v1"</a:t>
            </a:r>
            <a:r>
              <a:rPr lang="en-US" sz="21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api_key=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"ollama")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resp = client.chat.completions.create(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model=</a:t>
            </a:r>
            <a:r>
              <a:rPr lang="en-US" sz="2199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"llama3.2:1b"</a:t>
            </a:r>
            <a:r>
              <a:rPr lang="en-US" sz="21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messages=[{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"role"</a:t>
            </a:r>
            <a:r>
              <a:rPr lang="en-US" sz="21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2199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"user"</a:t>
            </a:r>
            <a:r>
              <a:rPr lang="en-US" sz="21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lang="en-US" sz="21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2199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"Hello!"}])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1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(resp.choices[</a:t>
            </a:r>
            <a:r>
              <a:rPr lang="en-US" sz="2199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1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].message.content)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17703" y="-1841497"/>
            <a:ext cx="7340603" cy="7340603"/>
            <a:chOff x="0" y="0"/>
            <a:chExt cx="9787471" cy="9787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87509" cy="9787509"/>
            </a:xfrm>
            <a:custGeom>
              <a:avLst/>
              <a:gdLst/>
              <a:ahLst/>
              <a:cxnLst/>
              <a:rect r="r" b="b" t="t" l="l"/>
              <a:pathLst>
                <a:path h="9787509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cubicBezTo>
                    <a:pt x="7596377" y="0"/>
                    <a:pt x="9787509" y="2191004"/>
                    <a:pt x="9787509" y="4893691"/>
                  </a:cubicBezTo>
                  <a:cubicBezTo>
                    <a:pt x="9787509" y="7596377"/>
                    <a:pt x="7596505" y="9787509"/>
                    <a:pt x="4893691" y="9787509"/>
                  </a:cubicBezTo>
                  <a:cubicBezTo>
                    <a:pt x="2190876" y="9787509"/>
                    <a:pt x="0" y="7596505"/>
                    <a:pt x="0" y="4893691"/>
                  </a:cubicBezTo>
                  <a:close/>
                </a:path>
              </a:pathLst>
            </a:custGeom>
            <a:solidFill>
              <a:srgbClr val="7C3AED">
                <a:alpha val="41961"/>
              </a:srgbClr>
            </a:solidFill>
            <a:ln w="2540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3703303" y="7302503"/>
            <a:ext cx="5511803" cy="5511803"/>
            <a:chOff x="0" y="0"/>
            <a:chExt cx="7349071" cy="73490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49109" cy="7349109"/>
            </a:xfrm>
            <a:custGeom>
              <a:avLst/>
              <a:gdLst/>
              <a:ahLst/>
              <a:cxnLst/>
              <a:rect r="r" b="b" t="t" l="l"/>
              <a:pathLst>
                <a:path h="7349109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cubicBezTo>
                    <a:pt x="5703824" y="0"/>
                    <a:pt x="7349109" y="1645158"/>
                    <a:pt x="7349109" y="3674491"/>
                  </a:cubicBezTo>
                  <a:cubicBezTo>
                    <a:pt x="7349109" y="5703824"/>
                    <a:pt x="5703951" y="7349109"/>
                    <a:pt x="3674491" y="7349109"/>
                  </a:cubicBezTo>
                  <a:cubicBezTo>
                    <a:pt x="1645031" y="7349109"/>
                    <a:pt x="0" y="5703951"/>
                    <a:pt x="0" y="3674491"/>
                  </a:cubicBezTo>
                  <a:close/>
                </a:path>
              </a:pathLst>
            </a:custGeom>
            <a:solidFill>
              <a:srgbClr val="C084FC">
                <a:alpha val="35686"/>
              </a:srgbClr>
            </a:solidFill>
            <a:ln w="25400" cap="sq">
              <a:solidFill>
                <a:srgbClr val="C084F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548640"/>
            <a:ext cx="9144000" cy="731520"/>
            <a:chOff x="0" y="0"/>
            <a:chExt cx="12192000" cy="975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1920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799">
                  <a:solidFill>
                    <a:srgbClr val="C084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vLLM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777240"/>
            <a:ext cx="12801600" cy="1645920"/>
            <a:chOff x="0" y="0"/>
            <a:chExt cx="17068800" cy="2194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06880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is vLLM?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1828805"/>
            <a:ext cx="15733571" cy="1280160"/>
            <a:chOff x="0" y="0"/>
            <a:chExt cx="20978095" cy="17068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978095" cy="1706880"/>
            </a:xfrm>
            <a:custGeom>
              <a:avLst/>
              <a:gdLst/>
              <a:ahLst/>
              <a:cxnLst/>
              <a:rect r="r" b="b" t="t" l="l"/>
              <a:pathLst>
                <a:path h="1706880" w="20978095">
                  <a:moveTo>
                    <a:pt x="0" y="0"/>
                  </a:moveTo>
                  <a:lnTo>
                    <a:pt x="20978095" y="0"/>
                  </a:lnTo>
                  <a:lnTo>
                    <a:pt x="20978095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30258" b="-1170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0978095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>
                  <a:solidFill>
                    <a:srgbClr val="9CA3AF"/>
                  </a:solidFill>
                  <a:latin typeface="Alice"/>
                  <a:ea typeface="Alice"/>
                  <a:cs typeface="Alice"/>
                  <a:sym typeface="Alice"/>
                </a:rPr>
                <a:t>A high-throughput inference engine built for production. Faster, more efficient, built to scale.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" y="3324858"/>
            <a:ext cx="354587" cy="354587"/>
            <a:chOff x="0" y="0"/>
            <a:chExt cx="472783" cy="4727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C084FC"/>
            </a:solidFill>
            <a:ln w="25400" cap="sq">
              <a:solidFill>
                <a:srgbClr val="C084FC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609344" y="3246120"/>
            <a:ext cx="4389120" cy="557138"/>
            <a:chOff x="0" y="0"/>
            <a:chExt cx="5852160" cy="7428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52160" cy="742850"/>
            </a:xfrm>
            <a:custGeom>
              <a:avLst/>
              <a:gdLst/>
              <a:ahLst/>
              <a:cxnLst/>
              <a:rect r="r" b="b" t="t" l="l"/>
              <a:pathLst>
                <a:path h="74285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42850"/>
                  </a:lnTo>
                  <a:lnTo>
                    <a:pt x="0" y="742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47" r="0" b="-9945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5852160" cy="809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PagedAttention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09344" y="3679446"/>
            <a:ext cx="10632563" cy="583385"/>
            <a:chOff x="0" y="0"/>
            <a:chExt cx="14176751" cy="7778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176752" cy="777847"/>
            </a:xfrm>
            <a:custGeom>
              <a:avLst/>
              <a:gdLst/>
              <a:ahLst/>
              <a:cxnLst/>
              <a:rect r="r" b="b" t="t" l="l"/>
              <a:pathLst>
                <a:path h="777847" w="14176752">
                  <a:moveTo>
                    <a:pt x="0" y="0"/>
                  </a:moveTo>
                  <a:lnTo>
                    <a:pt x="14176752" y="0"/>
                  </a:lnTo>
                  <a:lnTo>
                    <a:pt x="14176752" y="777847"/>
                  </a:lnTo>
                  <a:lnTo>
                    <a:pt x="0" y="7778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764" r="5400" b="-27513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4176751" cy="78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9CA3AF"/>
                  </a:solidFill>
                  <a:latin typeface="Alice"/>
                  <a:ea typeface="Alice"/>
                  <a:cs typeface="Alice"/>
                  <a:sym typeface="Alice"/>
                </a:rPr>
                <a:t>Smarter GPU memory management — handles more requests at once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84583" y="4584321"/>
            <a:ext cx="354587" cy="354587"/>
            <a:chOff x="0" y="0"/>
            <a:chExt cx="472783" cy="4727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C084FC"/>
            </a:solidFill>
            <a:ln w="25400" cap="sq">
              <a:solidFill>
                <a:srgbClr val="C084FC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609344" y="4543057"/>
            <a:ext cx="4389120" cy="557138"/>
            <a:chOff x="0" y="0"/>
            <a:chExt cx="5852160" cy="7428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852160" cy="742850"/>
            </a:xfrm>
            <a:custGeom>
              <a:avLst/>
              <a:gdLst/>
              <a:ahLst/>
              <a:cxnLst/>
              <a:rect r="r" b="b" t="t" l="l"/>
              <a:pathLst>
                <a:path h="74285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42850"/>
                  </a:lnTo>
                  <a:lnTo>
                    <a:pt x="0" y="742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47" r="0" b="-9945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5852160" cy="809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Continuous batching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09344" y="5081981"/>
            <a:ext cx="10058400" cy="479679"/>
            <a:chOff x="0" y="0"/>
            <a:chExt cx="13411200" cy="6395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411200" cy="639571"/>
            </a:xfrm>
            <a:custGeom>
              <a:avLst/>
              <a:gdLst/>
              <a:ahLst/>
              <a:cxnLst/>
              <a:rect r="r" b="b" t="t" l="l"/>
              <a:pathLst>
                <a:path h="639571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39571"/>
                  </a:lnTo>
                  <a:lnTo>
                    <a:pt x="0" y="6395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925" r="0" b="-35623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13411200" cy="6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9CA3AF"/>
                  </a:solidFill>
                  <a:latin typeface="Alice"/>
                  <a:ea typeface="Alice"/>
                  <a:cs typeface="Alice"/>
                  <a:sym typeface="Alice"/>
                </a:rPr>
                <a:t>Processes tokens as they arrive, no waiting for a full batch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84583" y="5998396"/>
            <a:ext cx="354587" cy="354587"/>
            <a:chOff x="0" y="0"/>
            <a:chExt cx="472783" cy="4727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C084FC"/>
            </a:solidFill>
            <a:ln w="25400" cap="sq">
              <a:solidFill>
                <a:srgbClr val="C084FC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609344" y="5897120"/>
            <a:ext cx="4389120" cy="557138"/>
            <a:chOff x="0" y="0"/>
            <a:chExt cx="5852160" cy="7428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852160" cy="742850"/>
            </a:xfrm>
            <a:custGeom>
              <a:avLst/>
              <a:gdLst/>
              <a:ahLst/>
              <a:cxnLst/>
              <a:rect r="r" b="b" t="t" l="l"/>
              <a:pathLst>
                <a:path h="74285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42850"/>
                  </a:lnTo>
                  <a:lnTo>
                    <a:pt x="0" y="742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47" r="0" b="-9945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5852160" cy="809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OpenAI-compatible API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09344" y="6423633"/>
            <a:ext cx="10058400" cy="479679"/>
            <a:chOff x="0" y="0"/>
            <a:chExt cx="13411200" cy="6395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411200" cy="639571"/>
            </a:xfrm>
            <a:custGeom>
              <a:avLst/>
              <a:gdLst/>
              <a:ahLst/>
              <a:cxnLst/>
              <a:rect r="r" b="b" t="t" l="l"/>
              <a:pathLst>
                <a:path h="639571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39571"/>
                  </a:lnTo>
                  <a:lnTo>
                    <a:pt x="0" y="6395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925" r="0" b="-35623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13411200" cy="6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9CA3AF"/>
                  </a:solidFill>
                  <a:latin typeface="Alice"/>
                  <a:ea typeface="Alice"/>
                  <a:cs typeface="Alice"/>
                  <a:sym typeface="Alice"/>
                </a:rPr>
                <a:t>Same endpoint format, runs on port 8000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97280" y="7156583"/>
            <a:ext cx="354587" cy="354587"/>
            <a:chOff x="0" y="0"/>
            <a:chExt cx="472783" cy="47278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C084FC"/>
            </a:solidFill>
            <a:ln w="25400" cap="sq">
              <a:solidFill>
                <a:srgbClr val="C084FC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609344" y="7051808"/>
            <a:ext cx="4389120" cy="581117"/>
            <a:chOff x="0" y="0"/>
            <a:chExt cx="5852160" cy="77482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852160" cy="774823"/>
            </a:xfrm>
            <a:custGeom>
              <a:avLst/>
              <a:gdLst/>
              <a:ahLst/>
              <a:cxnLst/>
              <a:rect r="r" b="b" t="t" l="l"/>
              <a:pathLst>
                <a:path h="774823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74823"/>
                  </a:lnTo>
                  <a:lnTo>
                    <a:pt x="0" y="7748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109" r="0" b="-9122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5852160" cy="831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HuggingFace integration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09344" y="7630232"/>
            <a:ext cx="10058400" cy="479679"/>
            <a:chOff x="0" y="0"/>
            <a:chExt cx="13411200" cy="6395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411200" cy="639571"/>
            </a:xfrm>
            <a:custGeom>
              <a:avLst/>
              <a:gdLst/>
              <a:ahLst/>
              <a:cxnLst/>
              <a:rect r="r" b="b" t="t" l="l"/>
              <a:pathLst>
                <a:path h="639571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39571"/>
                  </a:lnTo>
                  <a:lnTo>
                    <a:pt x="0" y="6395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925" r="0" b="-35623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3411200" cy="6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9CA3AF"/>
                  </a:solidFill>
                  <a:latin typeface="Alice"/>
                  <a:ea typeface="Alice"/>
                  <a:cs typeface="Alice"/>
                  <a:sym typeface="Alice"/>
                </a:rPr>
                <a:t>Pulls models directly from HuggingFace on first run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97280" y="8424535"/>
            <a:ext cx="354587" cy="354587"/>
            <a:chOff x="0" y="0"/>
            <a:chExt cx="472783" cy="47278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C084FC"/>
            </a:solidFill>
            <a:ln w="25400" cap="sq">
              <a:solidFill>
                <a:srgbClr val="C084FC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609344" y="8311270"/>
            <a:ext cx="4389120" cy="581117"/>
            <a:chOff x="0" y="0"/>
            <a:chExt cx="5852160" cy="77482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852160" cy="774823"/>
            </a:xfrm>
            <a:custGeom>
              <a:avLst/>
              <a:gdLst/>
              <a:ahLst/>
              <a:cxnLst/>
              <a:rect r="r" b="b" t="t" l="l"/>
              <a:pathLst>
                <a:path h="774823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74823"/>
                  </a:lnTo>
                  <a:lnTo>
                    <a:pt x="0" y="7748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109" r="0" b="-9122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5852160" cy="831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Built for production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09344" y="8731377"/>
            <a:ext cx="10058400" cy="617220"/>
            <a:chOff x="0" y="0"/>
            <a:chExt cx="13411200" cy="8229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41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0496" r="0" b="-25457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1341120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9CA3AF"/>
                  </a:solidFill>
                  <a:latin typeface="Alice"/>
                  <a:ea typeface="Alice"/>
                  <a:cs typeface="Alice"/>
                  <a:sym typeface="Alice"/>
                </a:rPr>
                <a:t>Designed for high-load APIs, not just local use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17703" y="6388103"/>
            <a:ext cx="6426203" cy="6426203"/>
            <a:chOff x="0" y="0"/>
            <a:chExt cx="8568271" cy="8568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68309" cy="8568309"/>
            </a:xfrm>
            <a:custGeom>
              <a:avLst/>
              <a:gdLst/>
              <a:ahLst/>
              <a:cxnLst/>
              <a:rect r="r" b="b" t="t" l="l"/>
              <a:pathLst>
                <a:path h="8568309" w="8568309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cubicBezTo>
                    <a:pt x="6650101" y="0"/>
                    <a:pt x="8568309" y="1918081"/>
                    <a:pt x="8568309" y="4284091"/>
                  </a:cubicBezTo>
                  <a:cubicBezTo>
                    <a:pt x="8568309" y="6650101"/>
                    <a:pt x="6650228" y="8568309"/>
                    <a:pt x="4284091" y="8568309"/>
                  </a:cubicBezTo>
                  <a:cubicBezTo>
                    <a:pt x="1917953" y="8568309"/>
                    <a:pt x="0" y="6650228"/>
                    <a:pt x="0" y="4284091"/>
                  </a:cubicBezTo>
                  <a:close/>
                </a:path>
              </a:pathLst>
            </a:custGeom>
            <a:solidFill>
              <a:srgbClr val="4F46E5">
                <a:alpha val="41961"/>
              </a:srgbClr>
            </a:solidFill>
            <a:ln w="25400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512064"/>
            <a:ext cx="16459200" cy="731520"/>
            <a:chOff x="0" y="0"/>
            <a:chExt cx="21945600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945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799">
                  <a:solidFill>
                    <a:srgbClr val="C084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vLLM IN ACTION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1243584"/>
            <a:ext cx="16459200" cy="1371600"/>
            <a:chOff x="0" y="0"/>
            <a:chExt cx="2194560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Install → Serve → Query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280" y="2926080"/>
            <a:ext cx="7315200" cy="640080"/>
            <a:chOff x="0" y="0"/>
            <a:chExt cx="9753600" cy="853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9753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C084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① Install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84583" y="3644903"/>
            <a:ext cx="7889243" cy="1214123"/>
            <a:chOff x="0" y="0"/>
            <a:chExt cx="10518991" cy="16188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19029" cy="1618869"/>
            </a:xfrm>
            <a:custGeom>
              <a:avLst/>
              <a:gdLst/>
              <a:ahLst/>
              <a:cxnLst/>
              <a:rect r="r" b="b" t="t" l="l"/>
              <a:pathLst>
                <a:path h="1618869" w="10519029">
                  <a:moveTo>
                    <a:pt x="0" y="0"/>
                  </a:moveTo>
                  <a:lnTo>
                    <a:pt x="10519029" y="0"/>
                  </a:lnTo>
                  <a:lnTo>
                    <a:pt x="10519029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111827"/>
            </a:solidFill>
            <a:ln w="25400" cap="sq">
              <a:solidFill>
                <a:srgbClr val="1F293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517904" y="3838575"/>
            <a:ext cx="713232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!pip install vllm -q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97280" y="5120640"/>
            <a:ext cx="7315200" cy="640080"/>
            <a:chOff x="0" y="0"/>
            <a:chExt cx="975360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9753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C084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② Start server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4583" y="5839463"/>
            <a:ext cx="7889243" cy="2402843"/>
            <a:chOff x="0" y="0"/>
            <a:chExt cx="10518991" cy="32037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19029" cy="3203829"/>
            </a:xfrm>
            <a:custGeom>
              <a:avLst/>
              <a:gdLst/>
              <a:ahLst/>
              <a:cxnLst/>
              <a:rect r="r" b="b" t="t" l="l"/>
              <a:pathLst>
                <a:path h="3203829" w="10519029">
                  <a:moveTo>
                    <a:pt x="0" y="0"/>
                  </a:moveTo>
                  <a:lnTo>
                    <a:pt x="10519029" y="0"/>
                  </a:lnTo>
                  <a:lnTo>
                    <a:pt x="1051902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111827"/>
            </a:solidFill>
            <a:ln w="25400" cap="sq">
              <a:solidFill>
                <a:srgbClr val="1F293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517904" y="6033135"/>
            <a:ext cx="7132320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python -m vllm.entrypoints.openai.api_server \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--model </a:t>
            </a:r>
            <a:r>
              <a:rPr lang="en-US" sz="2199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google/gemma-2-2b-it \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--dtype </a:t>
            </a:r>
            <a:r>
              <a:rPr lang="en-US" sz="2199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float16 \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--max-model-len </a:t>
            </a:r>
            <a:r>
              <a:rPr lang="en-US" sz="2199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2048 \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--port </a:t>
            </a:r>
            <a:r>
              <a:rPr lang="en-US" sz="2199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8000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509760" y="2926080"/>
            <a:ext cx="8229600" cy="640080"/>
            <a:chOff x="0" y="0"/>
            <a:chExt cx="10972800" cy="85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09728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C084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③ Query (same code as Ollama!)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575802" y="3566160"/>
            <a:ext cx="8255003" cy="5167313"/>
            <a:chOff x="0" y="0"/>
            <a:chExt cx="11006671" cy="68897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006709" cy="6889788"/>
            </a:xfrm>
            <a:custGeom>
              <a:avLst/>
              <a:gdLst/>
              <a:ahLst/>
              <a:cxnLst/>
              <a:rect r="r" b="b" t="t" l="l"/>
              <a:pathLst>
                <a:path h="6889788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6889788"/>
                  </a:lnTo>
                  <a:lnTo>
                    <a:pt x="0" y="6889788"/>
                  </a:lnTo>
                  <a:close/>
                </a:path>
              </a:pathLst>
            </a:custGeom>
            <a:solidFill>
              <a:srgbClr val="111827"/>
            </a:solidFill>
            <a:ln w="25400" cap="sq">
              <a:solidFill>
                <a:srgbClr val="1F2937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9575802" y="3518535"/>
            <a:ext cx="7498080" cy="492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openai </a:t>
            </a:r>
            <a:r>
              <a:rPr lang="en-US" sz="2000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-US" sz="2000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OpenAI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# only base_url changes!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client = </a:t>
            </a:r>
            <a:r>
              <a:rPr lang="en-US" sz="2000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OpenAI(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base_url=</a:t>
            </a:r>
            <a:r>
              <a:rPr lang="en-US" sz="200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"http://localhost:8000/v1"</a:t>
            </a: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api_key=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"token")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resp = client.chat.completions.create(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model=</a:t>
            </a:r>
            <a:r>
              <a:rPr lang="en-US" sz="200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"google/gemma-2-2b-it"</a:t>
            </a: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messages=[{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"role"</a:t>
            </a: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200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"user"</a:t>
            </a: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200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"Hello!"}],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max_tokens=</a:t>
            </a:r>
            <a:r>
              <a:rPr lang="en-US" sz="2000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200)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(resp.choices[</a:t>
            </a:r>
            <a:r>
              <a:rPr lang="en-US" sz="2000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].message.content)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32103" y="-1841497"/>
            <a:ext cx="6426203" cy="6426203"/>
            <a:chOff x="0" y="0"/>
            <a:chExt cx="8568271" cy="8568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68309" cy="8568309"/>
            </a:xfrm>
            <a:custGeom>
              <a:avLst/>
              <a:gdLst/>
              <a:ahLst/>
              <a:cxnLst/>
              <a:rect r="r" b="b" t="t" l="l"/>
              <a:pathLst>
                <a:path h="8568309" w="8568309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cubicBezTo>
                    <a:pt x="6650101" y="0"/>
                    <a:pt x="8568309" y="1918081"/>
                    <a:pt x="8568309" y="4284091"/>
                  </a:cubicBezTo>
                  <a:cubicBezTo>
                    <a:pt x="8568309" y="6650101"/>
                    <a:pt x="6650228" y="8568309"/>
                    <a:pt x="4284091" y="8568309"/>
                  </a:cubicBezTo>
                  <a:cubicBezTo>
                    <a:pt x="1917953" y="8568309"/>
                    <a:pt x="0" y="6650228"/>
                    <a:pt x="0" y="4284091"/>
                  </a:cubicBezTo>
                  <a:close/>
                </a:path>
              </a:pathLst>
            </a:custGeom>
            <a:solidFill>
              <a:srgbClr val="6C3EE8">
                <a:alpha val="35686"/>
              </a:srgbClr>
            </a:solidFill>
            <a:ln w="25400" cap="sq">
              <a:solidFill>
                <a:srgbClr val="6C3EE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27097" y="7302503"/>
            <a:ext cx="5511803" cy="5511803"/>
            <a:chOff x="0" y="0"/>
            <a:chExt cx="7349071" cy="73490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49109" cy="7349109"/>
            </a:xfrm>
            <a:custGeom>
              <a:avLst/>
              <a:gdLst/>
              <a:ahLst/>
              <a:cxnLst/>
              <a:rect r="r" b="b" t="t" l="l"/>
              <a:pathLst>
                <a:path h="7349109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cubicBezTo>
                    <a:pt x="5703824" y="0"/>
                    <a:pt x="7349109" y="1645158"/>
                    <a:pt x="7349109" y="3674491"/>
                  </a:cubicBezTo>
                  <a:cubicBezTo>
                    <a:pt x="7349109" y="5703824"/>
                    <a:pt x="5703951" y="7349109"/>
                    <a:pt x="3674491" y="7349109"/>
                  </a:cubicBezTo>
                  <a:cubicBezTo>
                    <a:pt x="1645031" y="7349109"/>
                    <a:pt x="0" y="5703951"/>
                    <a:pt x="0" y="3674491"/>
                  </a:cubicBezTo>
                  <a:close/>
                </a:path>
              </a:pathLst>
            </a:custGeom>
            <a:solidFill>
              <a:srgbClr val="4F46E5">
                <a:alpha val="30196"/>
              </a:srgbClr>
            </a:solidFill>
            <a:ln w="25400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512064"/>
            <a:ext cx="16459200" cy="731520"/>
            <a:chOff x="0" y="0"/>
            <a:chExt cx="21945600" cy="975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1945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799">
                  <a:solidFill>
                    <a:srgbClr val="6C3E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MODELS USED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1280160"/>
            <a:ext cx="16459200" cy="1554480"/>
            <a:chOff x="0" y="0"/>
            <a:chExt cx="21945600" cy="2072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312" r="0" b="-15631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1945600" cy="2101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8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These Two?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95350" y="3126486"/>
            <a:ext cx="8084820" cy="6621780"/>
            <a:chOff x="0" y="0"/>
            <a:chExt cx="10779760" cy="8829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79760" cy="8829040"/>
            </a:xfrm>
            <a:custGeom>
              <a:avLst/>
              <a:gdLst/>
              <a:ahLst/>
              <a:cxnLst/>
              <a:rect r="r" b="b" t="t" l="l"/>
              <a:pathLst>
                <a:path h="8829040" w="10779760">
                  <a:moveTo>
                    <a:pt x="0" y="0"/>
                  </a:moveTo>
                  <a:lnTo>
                    <a:pt x="10779760" y="0"/>
                  </a:lnTo>
                  <a:lnTo>
                    <a:pt x="10779760" y="8829040"/>
                  </a:lnTo>
                  <a:lnTo>
                    <a:pt x="0" y="8829040"/>
                  </a:lnTo>
                  <a:close/>
                </a:path>
              </a:pathLst>
            </a:custGeom>
            <a:solidFill>
              <a:srgbClr val="0F172A"/>
            </a:solidFill>
            <a:ln w="38100" cap="sq">
              <a:solidFill>
                <a:srgbClr val="6C3EE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88720" y="3383280"/>
            <a:ext cx="7315200" cy="914400"/>
            <a:chOff x="0" y="0"/>
            <a:chExt cx="97536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9753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Llama 3.2 : 1b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8720" y="4297680"/>
            <a:ext cx="7315200" cy="548640"/>
            <a:chOff x="0" y="0"/>
            <a:chExt cx="97536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75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C3E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 Meta (Facebook)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88720" y="4791456"/>
            <a:ext cx="7315200" cy="512064"/>
            <a:chOff x="0" y="0"/>
            <a:chExt cx="975360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753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Used via: Ollama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88720" y="5486400"/>
            <a:ext cx="7315200" cy="694944"/>
            <a:chOff x="0" y="0"/>
            <a:chExt cx="975360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753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1 billion parameters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88720" y="6272784"/>
            <a:ext cx="7315200" cy="694944"/>
            <a:chOff x="0" y="0"/>
            <a:chExt cx="9753600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753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~1.3 GB download size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8720" y="7059168"/>
            <a:ext cx="7315200" cy="694944"/>
            <a:chOff x="0" y="0"/>
            <a:chExt cx="9753600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753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Fits on free Colab T4 GPU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88720" y="7845552"/>
            <a:ext cx="7315200" cy="694944"/>
            <a:chOff x="0" y="0"/>
            <a:chExt cx="9753600" cy="926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753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Good for teaching &amp; prototyping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88720" y="8631936"/>
            <a:ext cx="7315200" cy="694944"/>
            <a:chOff x="0" y="0"/>
            <a:chExt cx="9753600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753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Fast responses even on CPU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07830" y="3126486"/>
            <a:ext cx="8084820" cy="6621780"/>
            <a:chOff x="0" y="0"/>
            <a:chExt cx="10779760" cy="8829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779760" cy="8829040"/>
            </a:xfrm>
            <a:custGeom>
              <a:avLst/>
              <a:gdLst/>
              <a:ahLst/>
              <a:cxnLst/>
              <a:rect r="r" b="b" t="t" l="l"/>
              <a:pathLst>
                <a:path h="8829040" w="10779760">
                  <a:moveTo>
                    <a:pt x="0" y="0"/>
                  </a:moveTo>
                  <a:lnTo>
                    <a:pt x="10779760" y="0"/>
                  </a:lnTo>
                  <a:lnTo>
                    <a:pt x="10779760" y="8829040"/>
                  </a:lnTo>
                  <a:lnTo>
                    <a:pt x="0" y="8829040"/>
                  </a:lnTo>
                  <a:close/>
                </a:path>
              </a:pathLst>
            </a:custGeom>
            <a:solidFill>
              <a:srgbClr val="0F172A"/>
            </a:solidFill>
            <a:ln w="38100" cap="sq">
              <a:solidFill>
                <a:srgbClr val="C084FC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601200" y="3383280"/>
            <a:ext cx="7315200" cy="914400"/>
            <a:chOff x="0" y="0"/>
            <a:chExt cx="9753600" cy="1219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9753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Gemma 2 : 2b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601200" y="4297680"/>
            <a:ext cx="7315200" cy="548640"/>
            <a:chOff x="0" y="0"/>
            <a:chExt cx="975360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75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084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 Google DeepMind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601200" y="4791456"/>
            <a:ext cx="7315200" cy="512064"/>
            <a:chOff x="0" y="0"/>
            <a:chExt cx="9753600" cy="68275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9753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Used via: Ollama + vLLM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601200" y="5486400"/>
            <a:ext cx="7498080" cy="694944"/>
            <a:chOff x="0" y="0"/>
            <a:chExt cx="9997440" cy="9265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99974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2 billion parameters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601200" y="6272784"/>
            <a:ext cx="7498080" cy="694944"/>
            <a:chOff x="0" y="0"/>
            <a:chExt cx="9997440" cy="9265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99974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~1.6 GB download size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601200" y="7059168"/>
            <a:ext cx="7498080" cy="694944"/>
            <a:chOff x="0" y="0"/>
            <a:chExt cx="9997440" cy="9265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99974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Fits on free Colab T4 GPU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601200" y="7845552"/>
            <a:ext cx="7498080" cy="694944"/>
            <a:chOff x="0" y="0"/>
            <a:chExt cx="9997440" cy="92659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99974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Better instruction following than Llama 1b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601200" y="8631936"/>
            <a:ext cx="7498080" cy="694944"/>
            <a:chOff x="0" y="0"/>
            <a:chExt cx="9997440" cy="9265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99974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Used across both frameworks for fair comparison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3303" y="6936743"/>
            <a:ext cx="7340603" cy="7340603"/>
            <a:chOff x="0" y="0"/>
            <a:chExt cx="9787471" cy="9787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87509" cy="9787509"/>
            </a:xfrm>
            <a:custGeom>
              <a:avLst/>
              <a:gdLst/>
              <a:ahLst/>
              <a:cxnLst/>
              <a:rect r="r" b="b" t="t" l="l"/>
              <a:pathLst>
                <a:path h="9787509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cubicBezTo>
                    <a:pt x="7596377" y="0"/>
                    <a:pt x="9787509" y="2191004"/>
                    <a:pt x="9787509" y="4893691"/>
                  </a:cubicBezTo>
                  <a:cubicBezTo>
                    <a:pt x="9787509" y="7596377"/>
                    <a:pt x="7596505" y="9787509"/>
                    <a:pt x="4893691" y="9787509"/>
                  </a:cubicBezTo>
                  <a:cubicBezTo>
                    <a:pt x="2190876" y="9787509"/>
                    <a:pt x="0" y="7596505"/>
                    <a:pt x="0" y="4893691"/>
                  </a:cubicBezTo>
                  <a:close/>
                </a:path>
              </a:pathLst>
            </a:custGeom>
            <a:solidFill>
              <a:srgbClr val="6C3EE8">
                <a:alpha val="48627"/>
              </a:srgbClr>
            </a:solidFill>
            <a:ln w="25400" cap="sq">
              <a:solidFill>
                <a:srgbClr val="6C3EE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512064"/>
            <a:ext cx="16459200" cy="731520"/>
            <a:chOff x="0" y="0"/>
            <a:chExt cx="21945600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945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799">
                  <a:solidFill>
                    <a:srgbClr val="6C3E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COMPARISON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1243584"/>
            <a:ext cx="12801600" cy="1463040"/>
            <a:chOff x="0" y="0"/>
            <a:chExt cx="170688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706880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8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Side by Side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8047" y="2956303"/>
            <a:ext cx="4218937" cy="762505"/>
            <a:chOff x="0" y="0"/>
            <a:chExt cx="5625249" cy="10166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25211" cy="1016635"/>
            </a:xfrm>
            <a:custGeom>
              <a:avLst/>
              <a:gdLst/>
              <a:ahLst/>
              <a:cxnLst/>
              <a:rect r="r" b="b" t="t" l="l"/>
              <a:pathLst>
                <a:path h="1016635" w="5625211">
                  <a:moveTo>
                    <a:pt x="0" y="0"/>
                  </a:moveTo>
                  <a:lnTo>
                    <a:pt x="5625211" y="0"/>
                  </a:lnTo>
                  <a:lnTo>
                    <a:pt x="562521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0F172A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114287" y="2956303"/>
            <a:ext cx="5864857" cy="762505"/>
            <a:chOff x="0" y="0"/>
            <a:chExt cx="7819809" cy="10166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19771" cy="1016635"/>
            </a:xfrm>
            <a:custGeom>
              <a:avLst/>
              <a:gdLst/>
              <a:ahLst/>
              <a:cxnLst/>
              <a:rect r="r" b="b" t="t" l="l"/>
              <a:pathLst>
                <a:path h="1016635" w="7819771">
                  <a:moveTo>
                    <a:pt x="0" y="0"/>
                  </a:moveTo>
                  <a:lnTo>
                    <a:pt x="7819771" y="0"/>
                  </a:lnTo>
                  <a:lnTo>
                    <a:pt x="781977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6C3EE8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5340096" y="2962656"/>
            <a:ext cx="5632704" cy="749808"/>
            <a:chOff x="0" y="0"/>
            <a:chExt cx="7510272" cy="9997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10272" cy="999744"/>
            </a:xfrm>
            <a:custGeom>
              <a:avLst/>
              <a:gdLst/>
              <a:ahLst/>
              <a:cxnLst/>
              <a:rect r="r" b="b" t="t" l="l"/>
              <a:pathLst>
                <a:path h="999744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75" r="0" b="-963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510272" cy="10378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Ollama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66447" y="2956303"/>
            <a:ext cx="5864857" cy="762505"/>
            <a:chOff x="0" y="0"/>
            <a:chExt cx="7819809" cy="101667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819771" cy="1016635"/>
            </a:xfrm>
            <a:custGeom>
              <a:avLst/>
              <a:gdLst/>
              <a:ahLst/>
              <a:cxnLst/>
              <a:rect r="r" b="b" t="t" l="l"/>
              <a:pathLst>
                <a:path h="1016635" w="7819771">
                  <a:moveTo>
                    <a:pt x="0" y="0"/>
                  </a:moveTo>
                  <a:lnTo>
                    <a:pt x="7819771" y="0"/>
                  </a:lnTo>
                  <a:lnTo>
                    <a:pt x="781977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7C3AED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192256" y="2962656"/>
            <a:ext cx="5632704" cy="749808"/>
            <a:chOff x="0" y="0"/>
            <a:chExt cx="7510272" cy="9997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510272" cy="999744"/>
            </a:xfrm>
            <a:custGeom>
              <a:avLst/>
              <a:gdLst/>
              <a:ahLst/>
              <a:cxnLst/>
              <a:rect r="r" b="b" t="t" l="l"/>
              <a:pathLst>
                <a:path h="999744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75" r="0" b="-9637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510272" cy="10378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vLLM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08047" y="3706111"/>
            <a:ext cx="4218937" cy="762505"/>
            <a:chOff x="0" y="0"/>
            <a:chExt cx="5625249" cy="10166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25211" cy="1016635"/>
            </a:xfrm>
            <a:custGeom>
              <a:avLst/>
              <a:gdLst/>
              <a:ahLst/>
              <a:cxnLst/>
              <a:rect r="r" b="b" t="t" l="l"/>
              <a:pathLst>
                <a:path h="1016635" w="5625211">
                  <a:moveTo>
                    <a:pt x="0" y="0"/>
                  </a:moveTo>
                  <a:lnTo>
                    <a:pt x="5625211" y="0"/>
                  </a:lnTo>
                  <a:lnTo>
                    <a:pt x="562521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0F172A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33856" y="3712464"/>
            <a:ext cx="3986784" cy="749808"/>
            <a:chOff x="0" y="0"/>
            <a:chExt cx="5315712" cy="9997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15712" cy="999744"/>
            </a:xfrm>
            <a:custGeom>
              <a:avLst/>
              <a:gdLst/>
              <a:ahLst/>
              <a:cxnLst/>
              <a:rect r="r" b="b" t="t" l="l"/>
              <a:pathLst>
                <a:path h="999744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603" r="0" b="-5360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5315712" cy="10473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9CA3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Setup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114287" y="3706111"/>
            <a:ext cx="5864857" cy="762505"/>
            <a:chOff x="0" y="0"/>
            <a:chExt cx="7819809" cy="101667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819771" cy="1016635"/>
            </a:xfrm>
            <a:custGeom>
              <a:avLst/>
              <a:gdLst/>
              <a:ahLst/>
              <a:cxnLst/>
              <a:rect r="r" b="b" t="t" l="l"/>
              <a:pathLst>
                <a:path h="1016635" w="7819771">
                  <a:moveTo>
                    <a:pt x="0" y="0"/>
                  </a:moveTo>
                  <a:lnTo>
                    <a:pt x="7819771" y="0"/>
                  </a:lnTo>
                  <a:lnTo>
                    <a:pt x="781977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0F172A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5340096" y="3712464"/>
            <a:ext cx="5632704" cy="749808"/>
            <a:chOff x="0" y="0"/>
            <a:chExt cx="7510272" cy="9997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10272" cy="999744"/>
            </a:xfrm>
            <a:custGeom>
              <a:avLst/>
              <a:gdLst/>
              <a:ahLst/>
              <a:cxnLst/>
              <a:rect r="r" b="b" t="t" l="l"/>
              <a:pathLst>
                <a:path h="999744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75" r="0" b="-9637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7510272" cy="1009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Very easy — one curl command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966447" y="3706111"/>
            <a:ext cx="5864857" cy="762505"/>
            <a:chOff x="0" y="0"/>
            <a:chExt cx="7819809" cy="101667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819771" cy="1016635"/>
            </a:xfrm>
            <a:custGeom>
              <a:avLst/>
              <a:gdLst/>
              <a:ahLst/>
              <a:cxnLst/>
              <a:rect r="r" b="b" t="t" l="l"/>
              <a:pathLst>
                <a:path h="1016635" w="7819771">
                  <a:moveTo>
                    <a:pt x="0" y="0"/>
                  </a:moveTo>
                  <a:lnTo>
                    <a:pt x="7819771" y="0"/>
                  </a:lnTo>
                  <a:lnTo>
                    <a:pt x="781977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0F172A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192256" y="3712464"/>
            <a:ext cx="5632704" cy="749808"/>
            <a:chOff x="0" y="0"/>
            <a:chExt cx="7510272" cy="99974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510272" cy="999744"/>
            </a:xfrm>
            <a:custGeom>
              <a:avLst/>
              <a:gdLst/>
              <a:ahLst/>
              <a:cxnLst/>
              <a:rect r="r" b="b" t="t" l="l"/>
              <a:pathLst>
                <a:path h="999744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75" r="0" b="-9637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7510272" cy="1009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Moderate — pip install + config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08047" y="4455919"/>
            <a:ext cx="4218937" cy="762505"/>
            <a:chOff x="0" y="0"/>
            <a:chExt cx="5625249" cy="101667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625211" cy="1016635"/>
            </a:xfrm>
            <a:custGeom>
              <a:avLst/>
              <a:gdLst/>
              <a:ahLst/>
              <a:cxnLst/>
              <a:rect r="r" b="b" t="t" l="l"/>
              <a:pathLst>
                <a:path h="1016635" w="5625211">
                  <a:moveTo>
                    <a:pt x="0" y="0"/>
                  </a:moveTo>
                  <a:lnTo>
                    <a:pt x="5625211" y="0"/>
                  </a:lnTo>
                  <a:lnTo>
                    <a:pt x="562521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0F172A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133856" y="4462272"/>
            <a:ext cx="3986784" cy="749808"/>
            <a:chOff x="0" y="0"/>
            <a:chExt cx="5315712" cy="9997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15712" cy="999744"/>
            </a:xfrm>
            <a:custGeom>
              <a:avLst/>
              <a:gdLst/>
              <a:ahLst/>
              <a:cxnLst/>
              <a:rect r="r" b="b" t="t" l="l"/>
              <a:pathLst>
                <a:path h="999744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603" r="0" b="-5360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5315712" cy="10473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9CA3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Best for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114287" y="4455919"/>
            <a:ext cx="5864857" cy="762505"/>
            <a:chOff x="0" y="0"/>
            <a:chExt cx="7819809" cy="101667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819771" cy="1016635"/>
            </a:xfrm>
            <a:custGeom>
              <a:avLst/>
              <a:gdLst/>
              <a:ahLst/>
              <a:cxnLst/>
              <a:rect r="r" b="b" t="t" l="l"/>
              <a:pathLst>
                <a:path h="1016635" w="7819771">
                  <a:moveTo>
                    <a:pt x="0" y="0"/>
                  </a:moveTo>
                  <a:lnTo>
                    <a:pt x="7819771" y="0"/>
                  </a:lnTo>
                  <a:lnTo>
                    <a:pt x="781977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111827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5340096" y="4462272"/>
            <a:ext cx="5632704" cy="749808"/>
            <a:chOff x="0" y="0"/>
            <a:chExt cx="7510272" cy="99974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510272" cy="999744"/>
            </a:xfrm>
            <a:custGeom>
              <a:avLst/>
              <a:gdLst/>
              <a:ahLst/>
              <a:cxnLst/>
              <a:rect r="r" b="b" t="t" l="l"/>
              <a:pathLst>
                <a:path h="999744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75" r="0" b="-9637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7510272" cy="1009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Local use, learning, prototyping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966447" y="4455919"/>
            <a:ext cx="5864857" cy="762505"/>
            <a:chOff x="0" y="0"/>
            <a:chExt cx="7819809" cy="101667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819771" cy="1016635"/>
            </a:xfrm>
            <a:custGeom>
              <a:avLst/>
              <a:gdLst/>
              <a:ahLst/>
              <a:cxnLst/>
              <a:rect r="r" b="b" t="t" l="l"/>
              <a:pathLst>
                <a:path h="1016635" w="7819771">
                  <a:moveTo>
                    <a:pt x="0" y="0"/>
                  </a:moveTo>
                  <a:lnTo>
                    <a:pt x="7819771" y="0"/>
                  </a:lnTo>
                  <a:lnTo>
                    <a:pt x="781977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111827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1192256" y="4462272"/>
            <a:ext cx="5632704" cy="749808"/>
            <a:chOff x="0" y="0"/>
            <a:chExt cx="7510272" cy="99974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510272" cy="999744"/>
            </a:xfrm>
            <a:custGeom>
              <a:avLst/>
              <a:gdLst/>
              <a:ahLst/>
              <a:cxnLst/>
              <a:rect r="r" b="b" t="t" l="l"/>
              <a:pathLst>
                <a:path h="999744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75" r="0" b="-9637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7510272" cy="1009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Production, high traffic APIs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08047" y="5205727"/>
            <a:ext cx="4218937" cy="762505"/>
            <a:chOff x="0" y="0"/>
            <a:chExt cx="5625249" cy="101667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625211" cy="1016635"/>
            </a:xfrm>
            <a:custGeom>
              <a:avLst/>
              <a:gdLst/>
              <a:ahLst/>
              <a:cxnLst/>
              <a:rect r="r" b="b" t="t" l="l"/>
              <a:pathLst>
                <a:path h="1016635" w="5625211">
                  <a:moveTo>
                    <a:pt x="0" y="0"/>
                  </a:moveTo>
                  <a:lnTo>
                    <a:pt x="5625211" y="0"/>
                  </a:lnTo>
                  <a:lnTo>
                    <a:pt x="562521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0F172A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133856" y="5212080"/>
            <a:ext cx="3986784" cy="749808"/>
            <a:chOff x="0" y="0"/>
            <a:chExt cx="5315712" cy="99974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15712" cy="999744"/>
            </a:xfrm>
            <a:custGeom>
              <a:avLst/>
              <a:gdLst/>
              <a:ahLst/>
              <a:cxnLst/>
              <a:rect r="r" b="b" t="t" l="l"/>
              <a:pathLst>
                <a:path h="999744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603" r="0" b="-5360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5315712" cy="10473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9CA3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Throughput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114287" y="5205727"/>
            <a:ext cx="5864857" cy="762505"/>
            <a:chOff x="0" y="0"/>
            <a:chExt cx="7819809" cy="101667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819771" cy="1016635"/>
            </a:xfrm>
            <a:custGeom>
              <a:avLst/>
              <a:gdLst/>
              <a:ahLst/>
              <a:cxnLst/>
              <a:rect r="r" b="b" t="t" l="l"/>
              <a:pathLst>
                <a:path h="1016635" w="7819771">
                  <a:moveTo>
                    <a:pt x="0" y="0"/>
                  </a:moveTo>
                  <a:lnTo>
                    <a:pt x="7819771" y="0"/>
                  </a:lnTo>
                  <a:lnTo>
                    <a:pt x="781977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0F172A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5340096" y="5212080"/>
            <a:ext cx="5632704" cy="749808"/>
            <a:chOff x="0" y="0"/>
            <a:chExt cx="7510272" cy="99974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510272" cy="999744"/>
            </a:xfrm>
            <a:custGeom>
              <a:avLst/>
              <a:gdLst/>
              <a:ahLst/>
              <a:cxnLst/>
              <a:rect r="r" b="b" t="t" l="l"/>
              <a:pathLst>
                <a:path h="999744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75" r="0" b="-9637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7510272" cy="1009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Good for single users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966447" y="5205727"/>
            <a:ext cx="5864857" cy="762505"/>
            <a:chOff x="0" y="0"/>
            <a:chExt cx="7819809" cy="101667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819771" cy="1016635"/>
            </a:xfrm>
            <a:custGeom>
              <a:avLst/>
              <a:gdLst/>
              <a:ahLst/>
              <a:cxnLst/>
              <a:rect r="r" b="b" t="t" l="l"/>
              <a:pathLst>
                <a:path h="1016635" w="7819771">
                  <a:moveTo>
                    <a:pt x="0" y="0"/>
                  </a:moveTo>
                  <a:lnTo>
                    <a:pt x="7819771" y="0"/>
                  </a:lnTo>
                  <a:lnTo>
                    <a:pt x="781977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0F172A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1192256" y="5212080"/>
            <a:ext cx="5632704" cy="749808"/>
            <a:chOff x="0" y="0"/>
            <a:chExt cx="7510272" cy="99974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510272" cy="999744"/>
            </a:xfrm>
            <a:custGeom>
              <a:avLst/>
              <a:gdLst/>
              <a:ahLst/>
              <a:cxnLst/>
              <a:rect r="r" b="b" t="t" l="l"/>
              <a:pathLst>
                <a:path h="999744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75" r="0" b="-9637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7510272" cy="1009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High — PagedAttention optimized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08047" y="5955535"/>
            <a:ext cx="4218937" cy="762505"/>
            <a:chOff x="0" y="0"/>
            <a:chExt cx="5625249" cy="101667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625211" cy="1016635"/>
            </a:xfrm>
            <a:custGeom>
              <a:avLst/>
              <a:gdLst/>
              <a:ahLst/>
              <a:cxnLst/>
              <a:rect r="r" b="b" t="t" l="l"/>
              <a:pathLst>
                <a:path h="1016635" w="5625211">
                  <a:moveTo>
                    <a:pt x="0" y="0"/>
                  </a:moveTo>
                  <a:lnTo>
                    <a:pt x="5625211" y="0"/>
                  </a:lnTo>
                  <a:lnTo>
                    <a:pt x="562521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0F172A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133856" y="5961888"/>
            <a:ext cx="3986784" cy="749808"/>
            <a:chOff x="0" y="0"/>
            <a:chExt cx="5315712" cy="99974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315712" cy="999744"/>
            </a:xfrm>
            <a:custGeom>
              <a:avLst/>
              <a:gdLst/>
              <a:ahLst/>
              <a:cxnLst/>
              <a:rect r="r" b="b" t="t" l="l"/>
              <a:pathLst>
                <a:path h="999744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603" r="0" b="-5360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5315712" cy="10473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9CA3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GPU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5114287" y="5955535"/>
            <a:ext cx="5864857" cy="762505"/>
            <a:chOff x="0" y="0"/>
            <a:chExt cx="7819809" cy="101667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819771" cy="1016635"/>
            </a:xfrm>
            <a:custGeom>
              <a:avLst/>
              <a:gdLst/>
              <a:ahLst/>
              <a:cxnLst/>
              <a:rect r="r" b="b" t="t" l="l"/>
              <a:pathLst>
                <a:path h="1016635" w="7819771">
                  <a:moveTo>
                    <a:pt x="0" y="0"/>
                  </a:moveTo>
                  <a:lnTo>
                    <a:pt x="7819771" y="0"/>
                  </a:lnTo>
                  <a:lnTo>
                    <a:pt x="781977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111827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5340096" y="5961888"/>
            <a:ext cx="5632704" cy="749808"/>
            <a:chOff x="0" y="0"/>
            <a:chExt cx="7510272" cy="99974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510272" cy="999744"/>
            </a:xfrm>
            <a:custGeom>
              <a:avLst/>
              <a:gdLst/>
              <a:ahLst/>
              <a:cxnLst/>
              <a:rect r="r" b="b" t="t" l="l"/>
              <a:pathLst>
                <a:path h="999744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75" r="0" b="-9637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7510272" cy="1009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Optional (works on CPU too)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966447" y="5955535"/>
            <a:ext cx="5864857" cy="762505"/>
            <a:chOff x="0" y="0"/>
            <a:chExt cx="7819809" cy="101667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819771" cy="1016635"/>
            </a:xfrm>
            <a:custGeom>
              <a:avLst/>
              <a:gdLst/>
              <a:ahLst/>
              <a:cxnLst/>
              <a:rect r="r" b="b" t="t" l="l"/>
              <a:pathLst>
                <a:path h="1016635" w="7819771">
                  <a:moveTo>
                    <a:pt x="0" y="0"/>
                  </a:moveTo>
                  <a:lnTo>
                    <a:pt x="7819771" y="0"/>
                  </a:lnTo>
                  <a:lnTo>
                    <a:pt x="781977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111827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1192256" y="5961888"/>
            <a:ext cx="5632704" cy="749808"/>
            <a:chOff x="0" y="0"/>
            <a:chExt cx="7510272" cy="99974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510272" cy="999744"/>
            </a:xfrm>
            <a:custGeom>
              <a:avLst/>
              <a:gdLst/>
              <a:ahLst/>
              <a:cxnLst/>
              <a:rect r="r" b="b" t="t" l="l"/>
              <a:pathLst>
                <a:path h="999744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75" r="0" b="-9637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7510272" cy="1009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Required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08047" y="6705343"/>
            <a:ext cx="4218937" cy="762505"/>
            <a:chOff x="0" y="0"/>
            <a:chExt cx="5625249" cy="1016673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625211" cy="1016635"/>
            </a:xfrm>
            <a:custGeom>
              <a:avLst/>
              <a:gdLst/>
              <a:ahLst/>
              <a:cxnLst/>
              <a:rect r="r" b="b" t="t" l="l"/>
              <a:pathLst>
                <a:path h="1016635" w="5625211">
                  <a:moveTo>
                    <a:pt x="0" y="0"/>
                  </a:moveTo>
                  <a:lnTo>
                    <a:pt x="5625211" y="0"/>
                  </a:lnTo>
                  <a:lnTo>
                    <a:pt x="562521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0F172A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133856" y="6711696"/>
            <a:ext cx="3986784" cy="749808"/>
            <a:chOff x="0" y="0"/>
            <a:chExt cx="5315712" cy="99974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315712" cy="999744"/>
            </a:xfrm>
            <a:custGeom>
              <a:avLst/>
              <a:gdLst/>
              <a:ahLst/>
              <a:cxnLst/>
              <a:rect r="r" b="b" t="t" l="l"/>
              <a:pathLst>
                <a:path h="999744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603" r="0" b="-53603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5315712" cy="10473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9CA3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source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5114287" y="6705343"/>
            <a:ext cx="5864857" cy="762505"/>
            <a:chOff x="0" y="0"/>
            <a:chExt cx="7819809" cy="101667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819771" cy="1016635"/>
            </a:xfrm>
            <a:custGeom>
              <a:avLst/>
              <a:gdLst/>
              <a:ahLst/>
              <a:cxnLst/>
              <a:rect r="r" b="b" t="t" l="l"/>
              <a:pathLst>
                <a:path h="1016635" w="7819771">
                  <a:moveTo>
                    <a:pt x="0" y="0"/>
                  </a:moveTo>
                  <a:lnTo>
                    <a:pt x="7819771" y="0"/>
                  </a:lnTo>
                  <a:lnTo>
                    <a:pt x="781977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0F172A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5340096" y="6711696"/>
            <a:ext cx="5632704" cy="749808"/>
            <a:chOff x="0" y="0"/>
            <a:chExt cx="7510272" cy="99974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510272" cy="999744"/>
            </a:xfrm>
            <a:custGeom>
              <a:avLst/>
              <a:gdLst/>
              <a:ahLst/>
              <a:cxnLst/>
              <a:rect r="r" b="b" t="t" l="l"/>
              <a:pathLst>
                <a:path h="999744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75" r="0" b="-9637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9525"/>
              <a:ext cx="7510272" cy="1009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ollama pull &lt;name&gt;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966447" y="6705343"/>
            <a:ext cx="5864857" cy="762505"/>
            <a:chOff x="0" y="0"/>
            <a:chExt cx="7819809" cy="1016673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819771" cy="1016635"/>
            </a:xfrm>
            <a:custGeom>
              <a:avLst/>
              <a:gdLst/>
              <a:ahLst/>
              <a:cxnLst/>
              <a:rect r="r" b="b" t="t" l="l"/>
              <a:pathLst>
                <a:path h="1016635" w="7819771">
                  <a:moveTo>
                    <a:pt x="0" y="0"/>
                  </a:moveTo>
                  <a:lnTo>
                    <a:pt x="7819771" y="0"/>
                  </a:lnTo>
                  <a:lnTo>
                    <a:pt x="781977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0F172A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1192256" y="6711696"/>
            <a:ext cx="5632704" cy="749808"/>
            <a:chOff x="0" y="0"/>
            <a:chExt cx="7510272" cy="99974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510272" cy="999744"/>
            </a:xfrm>
            <a:custGeom>
              <a:avLst/>
              <a:gdLst/>
              <a:ahLst/>
              <a:cxnLst/>
              <a:rect r="r" b="b" t="t" l="l"/>
              <a:pathLst>
                <a:path h="999744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75" r="0" b="-9637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7510272" cy="1009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HuggingFace auto-download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08047" y="7455151"/>
            <a:ext cx="4218937" cy="762505"/>
            <a:chOff x="0" y="0"/>
            <a:chExt cx="5625249" cy="1016673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625211" cy="1016635"/>
            </a:xfrm>
            <a:custGeom>
              <a:avLst/>
              <a:gdLst/>
              <a:ahLst/>
              <a:cxnLst/>
              <a:rect r="r" b="b" t="t" l="l"/>
              <a:pathLst>
                <a:path h="1016635" w="5625211">
                  <a:moveTo>
                    <a:pt x="0" y="0"/>
                  </a:moveTo>
                  <a:lnTo>
                    <a:pt x="5625211" y="0"/>
                  </a:lnTo>
                  <a:lnTo>
                    <a:pt x="562521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0F172A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133856" y="7461504"/>
            <a:ext cx="3986784" cy="749808"/>
            <a:chOff x="0" y="0"/>
            <a:chExt cx="5315712" cy="99974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315712" cy="999744"/>
            </a:xfrm>
            <a:custGeom>
              <a:avLst/>
              <a:gdLst/>
              <a:ahLst/>
              <a:cxnLst/>
              <a:rect r="r" b="b" t="t" l="l"/>
              <a:pathLst>
                <a:path h="999744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603" r="0" b="-53603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5315712" cy="10473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9CA3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port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5114287" y="7455151"/>
            <a:ext cx="5864857" cy="762505"/>
            <a:chOff x="0" y="0"/>
            <a:chExt cx="7819809" cy="1016673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819771" cy="1016635"/>
            </a:xfrm>
            <a:custGeom>
              <a:avLst/>
              <a:gdLst/>
              <a:ahLst/>
              <a:cxnLst/>
              <a:rect r="r" b="b" t="t" l="l"/>
              <a:pathLst>
                <a:path h="1016635" w="7819771">
                  <a:moveTo>
                    <a:pt x="0" y="0"/>
                  </a:moveTo>
                  <a:lnTo>
                    <a:pt x="7819771" y="0"/>
                  </a:lnTo>
                  <a:lnTo>
                    <a:pt x="781977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111827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5340096" y="7461504"/>
            <a:ext cx="5632704" cy="749808"/>
            <a:chOff x="0" y="0"/>
            <a:chExt cx="7510272" cy="99974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510272" cy="999744"/>
            </a:xfrm>
            <a:custGeom>
              <a:avLst/>
              <a:gdLst/>
              <a:ahLst/>
              <a:cxnLst/>
              <a:rect r="r" b="b" t="t" l="l"/>
              <a:pathLst>
                <a:path h="999744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75" r="0" b="-9637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7510272" cy="1009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11434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966447" y="7455151"/>
            <a:ext cx="5864857" cy="762505"/>
            <a:chOff x="0" y="0"/>
            <a:chExt cx="7819809" cy="101667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819771" cy="1016635"/>
            </a:xfrm>
            <a:custGeom>
              <a:avLst/>
              <a:gdLst/>
              <a:ahLst/>
              <a:cxnLst/>
              <a:rect r="r" b="b" t="t" l="l"/>
              <a:pathLst>
                <a:path h="1016635" w="7819771">
                  <a:moveTo>
                    <a:pt x="0" y="0"/>
                  </a:moveTo>
                  <a:lnTo>
                    <a:pt x="7819771" y="0"/>
                  </a:lnTo>
                  <a:lnTo>
                    <a:pt x="781977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111827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11192256" y="7461504"/>
            <a:ext cx="5632704" cy="749808"/>
            <a:chOff x="0" y="0"/>
            <a:chExt cx="7510272" cy="99974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7510272" cy="999744"/>
            </a:xfrm>
            <a:custGeom>
              <a:avLst/>
              <a:gdLst/>
              <a:ahLst/>
              <a:cxnLst/>
              <a:rect r="r" b="b" t="t" l="l"/>
              <a:pathLst>
                <a:path h="999744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75" r="0" b="-96375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9525"/>
              <a:ext cx="7510272" cy="1009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8000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08047" y="8204959"/>
            <a:ext cx="4218937" cy="762505"/>
            <a:chOff x="0" y="0"/>
            <a:chExt cx="5625249" cy="1016673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625211" cy="1016635"/>
            </a:xfrm>
            <a:custGeom>
              <a:avLst/>
              <a:gdLst/>
              <a:ahLst/>
              <a:cxnLst/>
              <a:rect r="r" b="b" t="t" l="l"/>
              <a:pathLst>
                <a:path h="1016635" w="5625211">
                  <a:moveTo>
                    <a:pt x="0" y="0"/>
                  </a:moveTo>
                  <a:lnTo>
                    <a:pt x="5625211" y="0"/>
                  </a:lnTo>
                  <a:lnTo>
                    <a:pt x="562521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0F172A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1133856" y="8211312"/>
            <a:ext cx="3986784" cy="749808"/>
            <a:chOff x="0" y="0"/>
            <a:chExt cx="5315712" cy="99974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315712" cy="999744"/>
            </a:xfrm>
            <a:custGeom>
              <a:avLst/>
              <a:gdLst/>
              <a:ahLst/>
              <a:cxnLst/>
              <a:rect r="r" b="b" t="t" l="l"/>
              <a:pathLst>
                <a:path h="999744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603" r="0" b="-53603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47625"/>
              <a:ext cx="5315712" cy="10473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9CA3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format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5114287" y="8204959"/>
            <a:ext cx="5864857" cy="762505"/>
            <a:chOff x="0" y="0"/>
            <a:chExt cx="7819809" cy="1016673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819771" cy="1016635"/>
            </a:xfrm>
            <a:custGeom>
              <a:avLst/>
              <a:gdLst/>
              <a:ahLst/>
              <a:cxnLst/>
              <a:rect r="r" b="b" t="t" l="l"/>
              <a:pathLst>
                <a:path h="1016635" w="7819771">
                  <a:moveTo>
                    <a:pt x="0" y="0"/>
                  </a:moveTo>
                  <a:lnTo>
                    <a:pt x="7819771" y="0"/>
                  </a:lnTo>
                  <a:lnTo>
                    <a:pt x="781977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0F172A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19" id="119"/>
          <p:cNvGrpSpPr/>
          <p:nvPr/>
        </p:nvGrpSpPr>
        <p:grpSpPr>
          <a:xfrm rot="0">
            <a:off x="5340096" y="8211312"/>
            <a:ext cx="5632704" cy="749808"/>
            <a:chOff x="0" y="0"/>
            <a:chExt cx="7510272" cy="99974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7510272" cy="999744"/>
            </a:xfrm>
            <a:custGeom>
              <a:avLst/>
              <a:gdLst/>
              <a:ahLst/>
              <a:cxnLst/>
              <a:rect r="r" b="b" t="t" l="l"/>
              <a:pathLst>
                <a:path h="999744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75" r="0" b="-96375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9525"/>
              <a:ext cx="7510272" cy="1009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OpenAI-compatible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0966447" y="8204959"/>
            <a:ext cx="5864857" cy="762505"/>
            <a:chOff x="0" y="0"/>
            <a:chExt cx="7819809" cy="1016673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7819771" cy="1016635"/>
            </a:xfrm>
            <a:custGeom>
              <a:avLst/>
              <a:gdLst/>
              <a:ahLst/>
              <a:cxnLst/>
              <a:rect r="r" b="b" t="t" l="l"/>
              <a:pathLst>
                <a:path h="1016635" w="7819771">
                  <a:moveTo>
                    <a:pt x="0" y="0"/>
                  </a:moveTo>
                  <a:lnTo>
                    <a:pt x="7819771" y="0"/>
                  </a:lnTo>
                  <a:lnTo>
                    <a:pt x="781977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0F172A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24" id="124"/>
          <p:cNvGrpSpPr/>
          <p:nvPr/>
        </p:nvGrpSpPr>
        <p:grpSpPr>
          <a:xfrm rot="0">
            <a:off x="11192256" y="8211312"/>
            <a:ext cx="5632704" cy="749808"/>
            <a:chOff x="0" y="0"/>
            <a:chExt cx="7510272" cy="99974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7510272" cy="999744"/>
            </a:xfrm>
            <a:custGeom>
              <a:avLst/>
              <a:gdLst/>
              <a:ahLst/>
              <a:cxnLst/>
              <a:rect r="r" b="b" t="t" l="l"/>
              <a:pathLst>
                <a:path h="999744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75" r="0" b="-96375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9525"/>
              <a:ext cx="7510272" cy="1009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OpenAI-compatible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908047" y="8954767"/>
            <a:ext cx="4218937" cy="762505"/>
            <a:chOff x="0" y="0"/>
            <a:chExt cx="5625249" cy="1016673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5625211" cy="1016635"/>
            </a:xfrm>
            <a:custGeom>
              <a:avLst/>
              <a:gdLst/>
              <a:ahLst/>
              <a:cxnLst/>
              <a:rect r="r" b="b" t="t" l="l"/>
              <a:pathLst>
                <a:path h="1016635" w="5625211">
                  <a:moveTo>
                    <a:pt x="0" y="0"/>
                  </a:moveTo>
                  <a:lnTo>
                    <a:pt x="5625211" y="0"/>
                  </a:lnTo>
                  <a:lnTo>
                    <a:pt x="562521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0F172A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29" id="129"/>
          <p:cNvGrpSpPr/>
          <p:nvPr/>
        </p:nvGrpSpPr>
        <p:grpSpPr>
          <a:xfrm rot="0">
            <a:off x="1133856" y="8961120"/>
            <a:ext cx="3986784" cy="749808"/>
            <a:chOff x="0" y="0"/>
            <a:chExt cx="5315712" cy="999744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5315712" cy="999744"/>
            </a:xfrm>
            <a:custGeom>
              <a:avLst/>
              <a:gdLst/>
              <a:ahLst/>
              <a:cxnLst/>
              <a:rect r="r" b="b" t="t" l="l"/>
              <a:pathLst>
                <a:path h="999744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603" r="0" b="-53603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47625"/>
              <a:ext cx="5315712" cy="10473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9CA3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Memory use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5114287" y="8954767"/>
            <a:ext cx="5864857" cy="762505"/>
            <a:chOff x="0" y="0"/>
            <a:chExt cx="7819809" cy="1016673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7819771" cy="1016635"/>
            </a:xfrm>
            <a:custGeom>
              <a:avLst/>
              <a:gdLst/>
              <a:ahLst/>
              <a:cxnLst/>
              <a:rect r="r" b="b" t="t" l="l"/>
              <a:pathLst>
                <a:path h="1016635" w="7819771">
                  <a:moveTo>
                    <a:pt x="0" y="0"/>
                  </a:moveTo>
                  <a:lnTo>
                    <a:pt x="7819771" y="0"/>
                  </a:lnTo>
                  <a:lnTo>
                    <a:pt x="781977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111827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34" id="134"/>
          <p:cNvGrpSpPr/>
          <p:nvPr/>
        </p:nvGrpSpPr>
        <p:grpSpPr>
          <a:xfrm rot="0">
            <a:off x="5340096" y="8961120"/>
            <a:ext cx="5632704" cy="749808"/>
            <a:chOff x="0" y="0"/>
            <a:chExt cx="7510272" cy="99974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7510272" cy="999744"/>
            </a:xfrm>
            <a:custGeom>
              <a:avLst/>
              <a:gdLst/>
              <a:ahLst/>
              <a:cxnLst/>
              <a:rect r="r" b="b" t="t" l="l"/>
              <a:pathLst>
                <a:path h="999744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75" r="0" b="-96375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9525"/>
              <a:ext cx="7510272" cy="1009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Standard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0966447" y="8954767"/>
            <a:ext cx="5864857" cy="762505"/>
            <a:chOff x="0" y="0"/>
            <a:chExt cx="7819809" cy="1016673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7819771" cy="1016635"/>
            </a:xfrm>
            <a:custGeom>
              <a:avLst/>
              <a:gdLst/>
              <a:ahLst/>
              <a:cxnLst/>
              <a:rect r="r" b="b" t="t" l="l"/>
              <a:pathLst>
                <a:path h="1016635" w="7819771">
                  <a:moveTo>
                    <a:pt x="0" y="0"/>
                  </a:moveTo>
                  <a:lnTo>
                    <a:pt x="7819771" y="0"/>
                  </a:lnTo>
                  <a:lnTo>
                    <a:pt x="7819771" y="1016635"/>
                  </a:lnTo>
                  <a:lnTo>
                    <a:pt x="0" y="1016635"/>
                  </a:lnTo>
                  <a:close/>
                </a:path>
              </a:pathLst>
            </a:custGeom>
            <a:solidFill>
              <a:srgbClr val="111827"/>
            </a:solidFill>
            <a:ln w="12700" cap="sq">
              <a:solidFill>
                <a:srgbClr val="1F2937"/>
              </a:solidFill>
              <a:prstDash val="solid"/>
              <a:miter/>
            </a:ln>
          </p:spPr>
        </p:sp>
      </p:grpSp>
      <p:grpSp>
        <p:nvGrpSpPr>
          <p:cNvPr name="Group 139" id="139"/>
          <p:cNvGrpSpPr/>
          <p:nvPr/>
        </p:nvGrpSpPr>
        <p:grpSpPr>
          <a:xfrm rot="0">
            <a:off x="11192256" y="8961120"/>
            <a:ext cx="5632704" cy="749808"/>
            <a:chOff x="0" y="0"/>
            <a:chExt cx="7510272" cy="999744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7510272" cy="999744"/>
            </a:xfrm>
            <a:custGeom>
              <a:avLst/>
              <a:gdLst/>
              <a:ahLst/>
              <a:cxnLst/>
              <a:rect r="r" b="b" t="t" l="l"/>
              <a:pathLst>
                <a:path h="999744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75" r="0" b="-96375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9525"/>
              <a:ext cx="7510272" cy="1009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Optimized — serves more at once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32103" y="6388103"/>
            <a:ext cx="6426203" cy="6426203"/>
            <a:chOff x="0" y="0"/>
            <a:chExt cx="8568271" cy="8568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68309" cy="8568309"/>
            </a:xfrm>
            <a:custGeom>
              <a:avLst/>
              <a:gdLst/>
              <a:ahLst/>
              <a:cxnLst/>
              <a:rect r="r" b="b" t="t" l="l"/>
              <a:pathLst>
                <a:path h="8568309" w="8568309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cubicBezTo>
                    <a:pt x="6650101" y="0"/>
                    <a:pt x="8568309" y="1918081"/>
                    <a:pt x="8568309" y="4284091"/>
                  </a:cubicBezTo>
                  <a:cubicBezTo>
                    <a:pt x="8568309" y="6650101"/>
                    <a:pt x="6650228" y="8568309"/>
                    <a:pt x="4284091" y="8568309"/>
                  </a:cubicBezTo>
                  <a:cubicBezTo>
                    <a:pt x="1917953" y="8568309"/>
                    <a:pt x="0" y="6650228"/>
                    <a:pt x="0" y="4284091"/>
                  </a:cubicBezTo>
                  <a:close/>
                </a:path>
              </a:pathLst>
            </a:custGeom>
            <a:solidFill>
              <a:srgbClr val="4F46E5">
                <a:alpha val="35686"/>
              </a:srgbClr>
            </a:solidFill>
            <a:ln w="25400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512064"/>
            <a:ext cx="16459200" cy="731520"/>
            <a:chOff x="0" y="0"/>
            <a:chExt cx="21945600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945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799">
                  <a:solidFill>
                    <a:srgbClr val="6C3E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1243584"/>
            <a:ext cx="16459200" cy="1463040"/>
            <a:chOff x="0" y="0"/>
            <a:chExt cx="219456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Streaming &amp; Conversations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280" y="3017520"/>
            <a:ext cx="16459200" cy="694944"/>
            <a:chOff x="0" y="0"/>
            <a:chExt cx="21945600" cy="9265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1945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C084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Streaming — tokens arrive word by word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3749040"/>
            <a:ext cx="9144000" cy="914400"/>
            <a:chOff x="0" y="0"/>
            <a:chExt cx="12192000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92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21920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Instead of waiting for the full response, stream=True sends each word as it's generated — same as how ChatGPT types.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84583" y="4778759"/>
            <a:ext cx="16667483" cy="1854203"/>
            <a:chOff x="0" y="0"/>
            <a:chExt cx="22223311" cy="2472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23349" cy="2472309"/>
            </a:xfrm>
            <a:custGeom>
              <a:avLst/>
              <a:gdLst/>
              <a:ahLst/>
              <a:cxnLst/>
              <a:rect r="r" b="b" t="t" l="l"/>
              <a:pathLst>
                <a:path h="2472309" w="22223349">
                  <a:moveTo>
                    <a:pt x="0" y="0"/>
                  </a:moveTo>
                  <a:lnTo>
                    <a:pt x="22223349" y="0"/>
                  </a:lnTo>
                  <a:lnTo>
                    <a:pt x="22223349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111827"/>
            </a:solidFill>
            <a:ln w="25400" cap="sq">
              <a:solidFill>
                <a:srgbClr val="1F293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517904" y="4981956"/>
            <a:ext cx="1591056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stream = client.chat.completions.create(model=</a:t>
            </a:r>
            <a:r>
              <a:rPr lang="en-US" sz="190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"llama3.2:1b"</a:t>
            </a: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messages=[...], stream=</a:t>
            </a:r>
            <a:r>
              <a:rPr lang="en-US" sz="1900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chunk </a:t>
            </a:r>
            <a:r>
              <a:rPr lang="en-US" sz="1900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stream: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text = chunk.choices[</a:t>
            </a:r>
            <a:r>
              <a:rPr lang="en-US" sz="1900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].delta.content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    if </a:t>
            </a: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text: </a:t>
            </a:r>
            <a:r>
              <a:rPr lang="en-US" sz="1900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(text, end=</a:t>
            </a:r>
            <a:r>
              <a:rPr lang="en-US" sz="190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flush=</a:t>
            </a:r>
            <a:r>
              <a:rPr lang="en-US" sz="1900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97280" y="6912864"/>
            <a:ext cx="16459200" cy="694944"/>
            <a:chOff x="0" y="0"/>
            <a:chExt cx="21945600" cy="9265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1945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C084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Multi-turn — the model has no memory, so we give it one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84583" y="7704839"/>
            <a:ext cx="16667483" cy="2037083"/>
            <a:chOff x="0" y="0"/>
            <a:chExt cx="22223311" cy="27161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223349" cy="2716149"/>
            </a:xfrm>
            <a:custGeom>
              <a:avLst/>
              <a:gdLst/>
              <a:ahLst/>
              <a:cxnLst/>
              <a:rect r="r" b="b" t="t" l="l"/>
              <a:pathLst>
                <a:path h="2716149" w="22223349">
                  <a:moveTo>
                    <a:pt x="0" y="0"/>
                  </a:moveTo>
                  <a:lnTo>
                    <a:pt x="22223349" y="0"/>
                  </a:lnTo>
                  <a:lnTo>
                    <a:pt x="22223349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11827"/>
            </a:solidFill>
            <a:ln w="25400" cap="sq">
              <a:solidFill>
                <a:srgbClr val="1F2937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517904" y="7908036"/>
            <a:ext cx="15910560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messages = [{</a:t>
            </a:r>
            <a:r>
              <a:rPr lang="en-US" sz="190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"role"</a:t>
            </a: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90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"system"</a:t>
            </a: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90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90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"You are a helpful assistant."</a:t>
            </a: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}]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lang="en-US" sz="1900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chat</a:t>
            </a: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(user_input):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messages.append({</a:t>
            </a:r>
            <a:r>
              <a:rPr lang="en-US" sz="190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"role"</a:t>
            </a: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"user", </a:t>
            </a:r>
            <a:r>
              <a:rPr lang="en-US" sz="190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user_input})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reply = client.chat.completions.create(model=..., messages=messages).choices[</a:t>
            </a:r>
            <a:r>
              <a:rPr lang="en-US" sz="1900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].message.content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messages.append({</a:t>
            </a:r>
            <a:r>
              <a:rPr lang="en-US" sz="190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"role"</a:t>
            </a: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"assistant", </a:t>
            </a:r>
            <a:r>
              <a:rPr lang="en-US" sz="190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reply})  </a:t>
            </a:r>
            <a:r>
              <a:rPr lang="en-US" sz="190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# store reply so next call has context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41497" y="-1841497"/>
            <a:ext cx="7340603" cy="7340603"/>
            <a:chOff x="0" y="0"/>
            <a:chExt cx="9787471" cy="9787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87509" cy="9787509"/>
            </a:xfrm>
            <a:custGeom>
              <a:avLst/>
              <a:gdLst/>
              <a:ahLst/>
              <a:cxnLst/>
              <a:rect r="r" b="b" t="t" l="l"/>
              <a:pathLst>
                <a:path h="9787509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cubicBezTo>
                    <a:pt x="7596377" y="0"/>
                    <a:pt x="9787509" y="2191004"/>
                    <a:pt x="9787509" y="4893691"/>
                  </a:cubicBezTo>
                  <a:cubicBezTo>
                    <a:pt x="9787509" y="7596377"/>
                    <a:pt x="7596505" y="9787509"/>
                    <a:pt x="4893691" y="9787509"/>
                  </a:cubicBezTo>
                  <a:cubicBezTo>
                    <a:pt x="2190876" y="9787509"/>
                    <a:pt x="0" y="7596505"/>
                    <a:pt x="0" y="4893691"/>
                  </a:cubicBezTo>
                  <a:close/>
                </a:path>
              </a:pathLst>
            </a:custGeom>
            <a:solidFill>
              <a:srgbClr val="312E81">
                <a:alpha val="24706"/>
              </a:srgbClr>
            </a:solidFill>
            <a:ln w="25400" cap="sq">
              <a:solidFill>
                <a:srgbClr val="312E8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532103" y="7302503"/>
            <a:ext cx="6426203" cy="6426203"/>
            <a:chOff x="0" y="0"/>
            <a:chExt cx="8568271" cy="85682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68309" cy="8568309"/>
            </a:xfrm>
            <a:custGeom>
              <a:avLst/>
              <a:gdLst/>
              <a:ahLst/>
              <a:cxnLst/>
              <a:rect r="r" b="b" t="t" l="l"/>
              <a:pathLst>
                <a:path h="8568309" w="8568309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cubicBezTo>
                    <a:pt x="6650101" y="0"/>
                    <a:pt x="8568309" y="1918081"/>
                    <a:pt x="8568309" y="4284091"/>
                  </a:cubicBezTo>
                  <a:cubicBezTo>
                    <a:pt x="8568309" y="6650101"/>
                    <a:pt x="6650228" y="8568309"/>
                    <a:pt x="4284091" y="8568309"/>
                  </a:cubicBezTo>
                  <a:cubicBezTo>
                    <a:pt x="1917953" y="8568309"/>
                    <a:pt x="0" y="6650228"/>
                    <a:pt x="0" y="4284091"/>
                  </a:cubicBezTo>
                  <a:close/>
                </a:path>
              </a:pathLst>
            </a:custGeom>
            <a:solidFill>
              <a:srgbClr val="C084FC">
                <a:alpha val="41961"/>
              </a:srgbClr>
            </a:solidFill>
            <a:ln w="25400" cap="sq">
              <a:solidFill>
                <a:srgbClr val="C084F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512064"/>
            <a:ext cx="16459200" cy="731520"/>
            <a:chOff x="0" y="0"/>
            <a:chExt cx="21945600" cy="975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1945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799">
                  <a:solidFill>
                    <a:srgbClr val="6C3E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DECISION GUIDE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1243584"/>
            <a:ext cx="16459200" cy="1463040"/>
            <a:chOff x="0" y="0"/>
            <a:chExt cx="21945600" cy="1950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9456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When to Use Which?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95350" y="2998470"/>
            <a:ext cx="7993380" cy="6804660"/>
            <a:chOff x="0" y="0"/>
            <a:chExt cx="10657840" cy="90728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57840" cy="9072880"/>
            </a:xfrm>
            <a:custGeom>
              <a:avLst/>
              <a:gdLst/>
              <a:ahLst/>
              <a:cxnLst/>
              <a:rect r="r" b="b" t="t" l="l"/>
              <a:pathLst>
                <a:path h="9072880" w="10657840">
                  <a:moveTo>
                    <a:pt x="0" y="0"/>
                  </a:moveTo>
                  <a:lnTo>
                    <a:pt x="10657840" y="0"/>
                  </a:lnTo>
                  <a:lnTo>
                    <a:pt x="10657840" y="9072880"/>
                  </a:lnTo>
                  <a:lnTo>
                    <a:pt x="0" y="9072880"/>
                  </a:lnTo>
                  <a:close/>
                </a:path>
              </a:pathLst>
            </a:custGeom>
            <a:solidFill>
              <a:srgbClr val="0D0D1F"/>
            </a:solidFill>
            <a:ln w="38100" cap="sq">
              <a:solidFill>
                <a:srgbClr val="6C3EE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88720" y="3200400"/>
            <a:ext cx="7315200" cy="822960"/>
            <a:chOff x="0" y="0"/>
            <a:chExt cx="975360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7536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6C3E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 Ollama when...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8720" y="4242816"/>
            <a:ext cx="7498080" cy="877824"/>
            <a:chOff x="0" y="0"/>
            <a:chExt cx="9997440" cy="11704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9974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You're learning or experimenting with LLMs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88720" y="5285232"/>
            <a:ext cx="7498080" cy="877824"/>
            <a:chOff x="0" y="0"/>
            <a:chExt cx="9997440" cy="11704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9974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Want something running in under 5 minutes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88720" y="6327648"/>
            <a:ext cx="7498080" cy="877824"/>
            <a:chOff x="0" y="0"/>
            <a:chExt cx="9997440" cy="11704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9974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Building a personal project or demo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88720" y="7370064"/>
            <a:ext cx="7498080" cy="877824"/>
            <a:chOff x="0" y="0"/>
            <a:chExt cx="9997440" cy="11704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9974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Don't have a dedicated server with GPU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8720" y="8412480"/>
            <a:ext cx="7498080" cy="877824"/>
            <a:chOff x="0" y="0"/>
            <a:chExt cx="9997440" cy="11704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9974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Switching between models frequently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99270" y="2998470"/>
            <a:ext cx="7993380" cy="6804660"/>
            <a:chOff x="0" y="0"/>
            <a:chExt cx="10657840" cy="90728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57840" cy="9072880"/>
            </a:xfrm>
            <a:custGeom>
              <a:avLst/>
              <a:gdLst/>
              <a:ahLst/>
              <a:cxnLst/>
              <a:rect r="r" b="b" t="t" l="l"/>
              <a:pathLst>
                <a:path h="9072880" w="10657840">
                  <a:moveTo>
                    <a:pt x="0" y="0"/>
                  </a:moveTo>
                  <a:lnTo>
                    <a:pt x="10657840" y="0"/>
                  </a:lnTo>
                  <a:lnTo>
                    <a:pt x="10657840" y="9072880"/>
                  </a:lnTo>
                  <a:lnTo>
                    <a:pt x="0" y="9072880"/>
                  </a:lnTo>
                  <a:close/>
                </a:path>
              </a:pathLst>
            </a:custGeom>
            <a:solidFill>
              <a:srgbClr val="0D0D1F"/>
            </a:solidFill>
            <a:ln w="38100" cap="sq">
              <a:solidFill>
                <a:srgbClr val="C084FC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692640" y="3200400"/>
            <a:ext cx="7315200" cy="822960"/>
            <a:chOff x="0" y="0"/>
            <a:chExt cx="975360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97536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C084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 vLLM when...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692640" y="4242816"/>
            <a:ext cx="7498080" cy="877824"/>
            <a:chOff x="0" y="0"/>
            <a:chExt cx="9997440" cy="11704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99974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Deploying for multiple users simultaneously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692640" y="5285232"/>
            <a:ext cx="7498080" cy="877824"/>
            <a:chOff x="0" y="0"/>
            <a:chExt cx="9997440" cy="11704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99974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Speed and GPU memory efficiency matter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692640" y="6327648"/>
            <a:ext cx="7498080" cy="877824"/>
            <a:chOff x="0" y="0"/>
            <a:chExt cx="9997440" cy="117043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9974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Building a production API or SaaS product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692640" y="7370064"/>
            <a:ext cx="7498080" cy="877824"/>
            <a:chOff x="0" y="0"/>
            <a:chExt cx="9997440" cy="117043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99974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Need to handle many concurrent requests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692640" y="8412480"/>
            <a:ext cx="7498080" cy="877824"/>
            <a:chOff x="0" y="0"/>
            <a:chExt cx="9997440" cy="117043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99974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Have a dedicated GPU server available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55897" y="-2755897"/>
            <a:ext cx="9169403" cy="9169403"/>
            <a:chOff x="0" y="0"/>
            <a:chExt cx="12225871" cy="12225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25909" cy="12225909"/>
            </a:xfrm>
            <a:custGeom>
              <a:avLst/>
              <a:gdLst/>
              <a:ahLst/>
              <a:cxnLst/>
              <a:rect r="r" b="b" t="t" l="l"/>
              <a:pathLst>
                <a:path h="12225909" w="12225909">
                  <a:moveTo>
                    <a:pt x="0" y="6112891"/>
                  </a:moveTo>
                  <a:cubicBezTo>
                    <a:pt x="0" y="2736850"/>
                    <a:pt x="2736850" y="0"/>
                    <a:pt x="6112891" y="0"/>
                  </a:cubicBezTo>
                  <a:cubicBezTo>
                    <a:pt x="9488932" y="0"/>
                    <a:pt x="12225909" y="2736850"/>
                    <a:pt x="12225909" y="6112891"/>
                  </a:cubicBezTo>
                  <a:cubicBezTo>
                    <a:pt x="12225909" y="9488932"/>
                    <a:pt x="9489059" y="12225909"/>
                    <a:pt x="6112891" y="12225909"/>
                  </a:cubicBezTo>
                  <a:cubicBezTo>
                    <a:pt x="2736723" y="12225909"/>
                    <a:pt x="0" y="9489059"/>
                    <a:pt x="0" y="6112891"/>
                  </a:cubicBezTo>
                  <a:close/>
                </a:path>
              </a:pathLst>
            </a:custGeom>
            <a:solidFill>
              <a:srgbClr val="6C3EE8">
                <a:alpha val="41961"/>
              </a:srgbClr>
            </a:solidFill>
            <a:ln w="25400" cap="sq">
              <a:solidFill>
                <a:srgbClr val="6C3EE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788903" y="5473703"/>
            <a:ext cx="8255003" cy="8255003"/>
            <a:chOff x="0" y="0"/>
            <a:chExt cx="11006671" cy="110066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06709" cy="11006709"/>
            </a:xfrm>
            <a:custGeom>
              <a:avLst/>
              <a:gdLst/>
              <a:ahLst/>
              <a:cxnLst/>
              <a:rect r="r" b="b" t="t" l="l"/>
              <a:pathLst>
                <a:path h="11006709" w="11006709">
                  <a:moveTo>
                    <a:pt x="0" y="5503291"/>
                  </a:moveTo>
                  <a:cubicBezTo>
                    <a:pt x="0" y="2463927"/>
                    <a:pt x="2463927" y="0"/>
                    <a:pt x="5503291" y="0"/>
                  </a:cubicBezTo>
                  <a:cubicBezTo>
                    <a:pt x="8542655" y="0"/>
                    <a:pt x="11006709" y="2463927"/>
                    <a:pt x="11006709" y="5503291"/>
                  </a:cubicBezTo>
                  <a:cubicBezTo>
                    <a:pt x="11006709" y="8542655"/>
                    <a:pt x="8542782" y="11006709"/>
                    <a:pt x="5503291" y="11006709"/>
                  </a:cubicBezTo>
                  <a:cubicBezTo>
                    <a:pt x="2463800" y="11006709"/>
                    <a:pt x="0" y="8542782"/>
                    <a:pt x="0" y="5503291"/>
                  </a:cubicBezTo>
                  <a:close/>
                </a:path>
              </a:pathLst>
            </a:custGeom>
            <a:solidFill>
              <a:srgbClr val="C084FC">
                <a:alpha val="48627"/>
              </a:srgbClr>
            </a:solidFill>
            <a:ln w="25400" cap="sq">
              <a:solidFill>
                <a:srgbClr val="C084F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914400"/>
            <a:ext cx="16459200" cy="768096"/>
            <a:chOff x="0" y="0"/>
            <a:chExt cx="21945600" cy="1024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19456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799">
                  <a:solidFill>
                    <a:srgbClr val="6C3E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INSIGHT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1828800"/>
            <a:ext cx="16459200" cy="3291840"/>
            <a:chOff x="0" y="0"/>
            <a:chExt cx="21945600" cy="4389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1945600" cy="4417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Same Code.</a:t>
              </a:r>
            </a:p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Different Backend.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97280" y="5212080"/>
            <a:ext cx="12801600" cy="1188720"/>
            <a:chOff x="0" y="0"/>
            <a:chExt cx="17068800" cy="1584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068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838" r="0" b="-15983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706880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Both frameworks expose the identical OpenAI-compatible API.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Just change base_url and model — your code works everywhere.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84583" y="6607559"/>
            <a:ext cx="16667483" cy="2860043"/>
            <a:chOff x="0" y="0"/>
            <a:chExt cx="22223311" cy="38133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223349" cy="3813429"/>
            </a:xfrm>
            <a:custGeom>
              <a:avLst/>
              <a:gdLst/>
              <a:ahLst/>
              <a:cxnLst/>
              <a:rect r="r" b="b" t="t" l="l"/>
              <a:pathLst>
                <a:path h="3813429" w="22223349">
                  <a:moveTo>
                    <a:pt x="0" y="0"/>
                  </a:moveTo>
                  <a:lnTo>
                    <a:pt x="22223349" y="0"/>
                  </a:lnTo>
                  <a:lnTo>
                    <a:pt x="22223349" y="3813429"/>
                  </a:lnTo>
                  <a:lnTo>
                    <a:pt x="0" y="3813429"/>
                  </a:lnTo>
                  <a:close/>
                </a:path>
              </a:pathLst>
            </a:custGeom>
            <a:solidFill>
              <a:srgbClr val="111827"/>
            </a:solidFill>
            <a:ln w="25400" cap="sq">
              <a:solidFill>
                <a:srgbClr val="1F2937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517904" y="6810756"/>
            <a:ext cx="15910560" cy="2415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# Ollama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client = OpenAI(base_url=</a:t>
            </a:r>
            <a:r>
              <a:rPr lang="en-US" sz="190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"http://localhost:11434/v1"</a:t>
            </a: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api_key=</a:t>
            </a:r>
            <a:r>
              <a:rPr lang="en-US" sz="1900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"ollama")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# vLLM  (literally the only line that changes)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client = OpenAI(base_url=</a:t>
            </a:r>
            <a:r>
              <a:rPr lang="en-US" sz="1900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"http://localhost:8000/v1"</a:t>
            </a: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api_key=</a:t>
            </a:r>
            <a:r>
              <a:rPr lang="en-US" sz="1900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"token")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# everything else is identical ↓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resp = client.chat.completions.create(model=..., messages=[...])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41497" y="1816103"/>
            <a:ext cx="9169403" cy="9169403"/>
            <a:chOff x="0" y="0"/>
            <a:chExt cx="12225871" cy="12225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25909" cy="12225909"/>
            </a:xfrm>
            <a:custGeom>
              <a:avLst/>
              <a:gdLst/>
              <a:ahLst/>
              <a:cxnLst/>
              <a:rect r="r" b="b" t="t" l="l"/>
              <a:pathLst>
                <a:path h="12225909" w="12225909">
                  <a:moveTo>
                    <a:pt x="0" y="6112891"/>
                  </a:moveTo>
                  <a:cubicBezTo>
                    <a:pt x="0" y="2736850"/>
                    <a:pt x="2736850" y="0"/>
                    <a:pt x="6112891" y="0"/>
                  </a:cubicBezTo>
                  <a:cubicBezTo>
                    <a:pt x="9488932" y="0"/>
                    <a:pt x="12225909" y="2736850"/>
                    <a:pt x="12225909" y="6112891"/>
                  </a:cubicBezTo>
                  <a:cubicBezTo>
                    <a:pt x="12225909" y="9488932"/>
                    <a:pt x="9489059" y="12225909"/>
                    <a:pt x="6112891" y="12225909"/>
                  </a:cubicBezTo>
                  <a:cubicBezTo>
                    <a:pt x="2736723" y="12225909"/>
                    <a:pt x="0" y="9489059"/>
                    <a:pt x="0" y="6112891"/>
                  </a:cubicBezTo>
                  <a:close/>
                </a:path>
              </a:pathLst>
            </a:custGeom>
            <a:solidFill>
              <a:srgbClr val="6C3EE8">
                <a:alpha val="41961"/>
              </a:srgbClr>
            </a:solidFill>
            <a:ln w="25400" cap="sq">
              <a:solidFill>
                <a:srgbClr val="6C3EE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788903" y="3644903"/>
            <a:ext cx="9169403" cy="9169403"/>
            <a:chOff x="0" y="0"/>
            <a:chExt cx="12225871" cy="122258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25909" cy="12225909"/>
            </a:xfrm>
            <a:custGeom>
              <a:avLst/>
              <a:gdLst/>
              <a:ahLst/>
              <a:cxnLst/>
              <a:rect r="r" b="b" t="t" l="l"/>
              <a:pathLst>
                <a:path h="12225909" w="12225909">
                  <a:moveTo>
                    <a:pt x="0" y="6112891"/>
                  </a:moveTo>
                  <a:cubicBezTo>
                    <a:pt x="0" y="2736850"/>
                    <a:pt x="2736850" y="0"/>
                    <a:pt x="6112891" y="0"/>
                  </a:cubicBezTo>
                  <a:cubicBezTo>
                    <a:pt x="9488932" y="0"/>
                    <a:pt x="12225909" y="2736850"/>
                    <a:pt x="12225909" y="6112891"/>
                  </a:cubicBezTo>
                  <a:cubicBezTo>
                    <a:pt x="12225909" y="9488932"/>
                    <a:pt x="9489059" y="12225909"/>
                    <a:pt x="6112891" y="12225909"/>
                  </a:cubicBezTo>
                  <a:cubicBezTo>
                    <a:pt x="2736723" y="12225909"/>
                    <a:pt x="0" y="9489059"/>
                    <a:pt x="0" y="6112891"/>
                  </a:cubicBezTo>
                  <a:close/>
                </a:path>
              </a:pathLst>
            </a:custGeom>
            <a:solidFill>
              <a:srgbClr val="C084FC">
                <a:alpha val="48627"/>
              </a:srgbClr>
            </a:solidFill>
            <a:ln w="25400" cap="sq">
              <a:solidFill>
                <a:srgbClr val="C084F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302503" y="-1841497"/>
            <a:ext cx="5511803" cy="5511803"/>
            <a:chOff x="0" y="0"/>
            <a:chExt cx="7349071" cy="73490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49109" cy="7349109"/>
            </a:xfrm>
            <a:custGeom>
              <a:avLst/>
              <a:gdLst/>
              <a:ahLst/>
              <a:cxnLst/>
              <a:rect r="r" b="b" t="t" l="l"/>
              <a:pathLst>
                <a:path h="7349109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cubicBezTo>
                    <a:pt x="5703824" y="0"/>
                    <a:pt x="7349109" y="1645158"/>
                    <a:pt x="7349109" y="3674491"/>
                  </a:cubicBezTo>
                  <a:cubicBezTo>
                    <a:pt x="7349109" y="5703824"/>
                    <a:pt x="5703951" y="7349109"/>
                    <a:pt x="3674491" y="7349109"/>
                  </a:cubicBezTo>
                  <a:cubicBezTo>
                    <a:pt x="1645031" y="7349109"/>
                    <a:pt x="0" y="5703951"/>
                    <a:pt x="0" y="3674491"/>
                  </a:cubicBezTo>
                  <a:close/>
                </a:path>
              </a:pathLst>
            </a:custGeom>
            <a:solidFill>
              <a:srgbClr val="4F46E5">
                <a:alpha val="30196"/>
              </a:srgbClr>
            </a:solidFill>
            <a:ln w="25400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828800" y="2743200"/>
            <a:ext cx="14630400" cy="3657600"/>
            <a:chOff x="0" y="0"/>
            <a:chExt cx="19507200" cy="487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072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9507200" cy="4933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9"/>
                </a:lnSpc>
              </a:pPr>
              <a:r>
                <a:rPr lang="en-US" sz="199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Thank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28800" y="5486400"/>
            <a:ext cx="14630400" cy="3291840"/>
            <a:chOff x="0" y="0"/>
            <a:chExt cx="19507200" cy="4389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072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9507200" cy="4446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99"/>
                </a:lnSpc>
              </a:pPr>
              <a:r>
                <a:rPr lang="en-US" sz="199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You.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DAHLqpB5TBI</dc:identifier>
  <dcterms:modified xsi:type="dcterms:W3CDTF">2011-08-01T06:04:30Z</dcterms:modified>
  <cp:revision>1</cp:revision>
  <dc:title>ollama_vs_vllm_v2.pptx</dc:title>
</cp:coreProperties>
</file>